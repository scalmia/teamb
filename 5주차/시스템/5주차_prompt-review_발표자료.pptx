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22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EAE97"/>
          </a:solidFill>
          <a:ln w="12700">
            <a:solidFill>
              <a:srgbClr val="3EA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3200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86D5B"/>
                </a:solidFill>
                <a:latin typeface="Malgun Gothic"/>
              </a:rPr>
              <a:t>TEAM B  /  WEEK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89888"/>
            <a:ext cx="6766560" cy="1508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900" b="1" i="0">
                <a:solidFill>
                  <a:srgbClr val="1A2226"/>
                </a:solidFill>
                <a:latin typeface="Malgun Gothic"/>
              </a:rPr>
              <a:t>프롬프트를
되돌아보는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246120"/>
            <a:ext cx="5669280" cy="749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i="0" dirty="0">
                <a:solidFill>
                  <a:srgbClr val="606C6C"/>
                </a:solidFill>
                <a:latin typeface="Malgun Gothic"/>
              </a:rPr>
              <a:t>Claude Code </a:t>
            </a:r>
            <a:r>
              <a:rPr sz="1700" b="0" i="0" dirty="0" err="1">
                <a:solidFill>
                  <a:srgbClr val="606C6C"/>
                </a:solidFill>
                <a:latin typeface="Malgun Gothic"/>
              </a:rPr>
              <a:t>세션</a:t>
            </a:r>
            <a:r>
              <a:rPr sz="1700" b="0" i="0" dirty="0">
                <a:solidFill>
                  <a:srgbClr val="606C6C"/>
                </a:solidFill>
                <a:latin typeface="Malgun Gothic"/>
              </a:rPr>
              <a:t> </a:t>
            </a:r>
            <a:r>
              <a:rPr sz="1700" b="0" i="0" dirty="0" err="1">
                <a:solidFill>
                  <a:srgbClr val="606C6C"/>
                </a:solidFill>
                <a:latin typeface="Malgun Gothic"/>
              </a:rPr>
              <a:t>로그에서</a:t>
            </a:r>
            <a:r>
              <a:rPr sz="1700" b="0" i="0" dirty="0">
                <a:solidFill>
                  <a:srgbClr val="606C6C"/>
                </a:solidFill>
                <a:latin typeface="Malgun Gothic"/>
              </a:rPr>
              <a:t> </a:t>
            </a:r>
            <a:r>
              <a:rPr sz="1700" b="0" i="0" dirty="0" err="1">
                <a:solidFill>
                  <a:srgbClr val="606C6C"/>
                </a:solidFill>
                <a:latin typeface="Malgun Gothic"/>
              </a:rPr>
              <a:t>재작업의</a:t>
            </a:r>
            <a:r>
              <a:rPr sz="1700" b="0" i="0" dirty="0">
                <a:solidFill>
                  <a:srgbClr val="606C6C"/>
                </a:solidFill>
                <a:latin typeface="Malgun Gothic"/>
              </a:rPr>
              <a:t> </a:t>
            </a:r>
            <a:r>
              <a:rPr sz="1700" b="0" i="0" dirty="0" err="1">
                <a:solidFill>
                  <a:srgbClr val="606C6C"/>
                </a:solidFill>
                <a:latin typeface="Malgun Gothic"/>
              </a:rPr>
              <a:t>원인을</a:t>
            </a:r>
            <a:r>
              <a:rPr sz="1700" b="0" i="0" dirty="0">
                <a:solidFill>
                  <a:srgbClr val="606C6C"/>
                </a:solidFill>
                <a:latin typeface="Malgun Gothic"/>
              </a:rPr>
              <a:t> </a:t>
            </a:r>
            <a:r>
              <a:rPr sz="1700" b="0" i="0" dirty="0" err="1">
                <a:solidFill>
                  <a:srgbClr val="606C6C"/>
                </a:solidFill>
                <a:latin typeface="Malgun Gothic"/>
              </a:rPr>
              <a:t>찾아</a:t>
            </a:r>
            <a:r>
              <a:rPr sz="1700" b="0" i="0" dirty="0">
                <a:solidFill>
                  <a:srgbClr val="606C6C"/>
                </a:solidFill>
                <a:latin typeface="Malgun Gothic"/>
              </a:rPr>
              <a:t>
</a:t>
            </a:r>
            <a:r>
              <a:rPr sz="1700" b="0" i="0" dirty="0" err="1">
                <a:solidFill>
                  <a:srgbClr val="606C6C"/>
                </a:solidFill>
                <a:latin typeface="Malgun Gothic"/>
              </a:rPr>
              <a:t>다음</a:t>
            </a:r>
            <a:r>
              <a:rPr sz="1700" b="0" i="0" dirty="0">
                <a:solidFill>
                  <a:srgbClr val="606C6C"/>
                </a:solidFill>
                <a:latin typeface="Malgun Gothic"/>
              </a:rPr>
              <a:t> </a:t>
            </a:r>
            <a:r>
              <a:rPr sz="1700" b="0" i="0" dirty="0" err="1">
                <a:solidFill>
                  <a:srgbClr val="606C6C"/>
                </a:solidFill>
                <a:latin typeface="Malgun Gothic"/>
              </a:rPr>
              <a:t>지시문을</a:t>
            </a:r>
            <a:r>
              <a:rPr sz="1700" b="0" i="0" dirty="0">
                <a:solidFill>
                  <a:srgbClr val="606C6C"/>
                </a:solidFill>
                <a:latin typeface="Malgun Gothic"/>
              </a:rPr>
              <a:t> 더 </a:t>
            </a:r>
            <a:r>
              <a:rPr sz="1700" b="0" i="0" dirty="0" err="1">
                <a:solidFill>
                  <a:srgbClr val="606C6C"/>
                </a:solidFill>
                <a:latin typeface="Malgun Gothic"/>
              </a:rPr>
              <a:t>정확하게</a:t>
            </a:r>
            <a:r>
              <a:rPr sz="1700" b="0" i="0" dirty="0">
                <a:solidFill>
                  <a:srgbClr val="606C6C"/>
                </a:solidFill>
                <a:latin typeface="Malgun Gothic"/>
              </a:rPr>
              <a:t> </a:t>
            </a:r>
            <a:r>
              <a:rPr sz="1700" b="0" i="0" dirty="0" err="1">
                <a:solidFill>
                  <a:srgbClr val="606C6C"/>
                </a:solidFill>
                <a:latin typeface="Malgun Gothic"/>
              </a:rPr>
              <a:t>만드는</a:t>
            </a:r>
            <a:r>
              <a:rPr sz="1700" b="0" i="0" dirty="0">
                <a:solidFill>
                  <a:srgbClr val="606C6C"/>
                </a:solidFill>
                <a:latin typeface="Malgun Gothic"/>
              </a:rPr>
              <a:t> prompt-review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005840"/>
            <a:ext cx="3429000" cy="44348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0" y="1536192"/>
            <a:ext cx="25603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A2226"/>
                </a:solidFill>
                <a:latin typeface="Malgun Gothic"/>
              </a:rPr>
              <a:t>지시문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549640" y="2057400"/>
            <a:ext cx="1965960" cy="0"/>
          </a:xfrm>
          <a:prstGeom prst="line">
            <a:avLst/>
          </a:prstGeom>
          <a:ln w="38100">
            <a:solidFill>
              <a:srgbClr val="3EA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0" y="2514600"/>
            <a:ext cx="25603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A2226"/>
                </a:solidFill>
                <a:latin typeface="Malgun Gothic"/>
              </a:rPr>
              <a:t>AI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549640" y="3035808"/>
            <a:ext cx="1965960" cy="0"/>
          </a:xfrm>
          <a:prstGeom prst="line">
            <a:avLst/>
          </a:prstGeom>
          <a:ln w="38100">
            <a:solidFill>
              <a:srgbClr val="EF7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0" y="3493008"/>
            <a:ext cx="25603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A2226"/>
                </a:solidFill>
                <a:latin typeface="Malgun Gothic"/>
              </a:rPr>
              <a:t>산출물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297680"/>
            <a:ext cx="256032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EF7052"/>
                </a:solidFill>
                <a:latin typeface="Malgun Gothic"/>
              </a:rPr>
              <a:t>우리는 지금까지
산출물만 봤다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6053328"/>
            <a:ext cx="1828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06C6C"/>
                </a:solidFill>
                <a:latin typeface="Malgun Gothic"/>
              </a:rPr>
              <a:t>발표자료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6053328"/>
            <a:ext cx="6126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06C6C"/>
                </a:solidFill>
                <a:latin typeface="Malgun Gothic"/>
              </a:rPr>
              <a:t>팀원 소개 · 기획 배경 · 설계 · 활용 · 시연 · 결론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86D5B"/>
                </a:solidFill>
                <a:latin typeface="Malgun Gothic"/>
              </a:rPr>
              <a:t>01 /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A2226"/>
                </a:solidFill>
                <a:latin typeface="Malgun Gothic"/>
              </a:rPr>
              <a:t>각자의 자리에서, 자기 로그를 돌아봅니다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84048"/>
            <a:ext cx="640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606C6C"/>
                </a:solidFill>
                <a:latin typeface="Malgun Gothic"/>
              </a:rPr>
              <a:t>05 / 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98448"/>
            <a:ext cx="11000232" cy="0"/>
          </a:xfrm>
          <a:prstGeom prst="line">
            <a:avLst/>
          </a:prstGeom>
          <a:ln w="12700">
            <a:solidFill>
              <a:srgbClr val="D7D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47104"/>
            <a:ext cx="2743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06C6C"/>
                </a:solidFill>
                <a:latin typeface="Malgun Gothic"/>
              </a:rPr>
              <a:t>TeamB · 5주차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27632"/>
            <a:ext cx="5943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1A2226"/>
                </a:solidFill>
                <a:latin typeface="Malgun Gothic"/>
              </a:rPr>
              <a:t>요청자와 분석 대상이 항상 같습니다.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993392"/>
            <a:ext cx="5577840" cy="5852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606C6C"/>
                </a:solidFill>
                <a:latin typeface="Malgun Gothic"/>
              </a:rPr>
              <a:t>3·4주차와 달리, 이 시스템은 남의 코드를 평가하지 않습니다.
각자가 자기 PC에서 자기 세션을 분석합니다.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971800"/>
            <a:ext cx="2468880" cy="102412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59536" y="3209544"/>
            <a:ext cx="530352" cy="530352"/>
          </a:xfrm>
          <a:prstGeom prst="ellipse">
            <a:avLst/>
          </a:prstGeom>
          <a:solidFill>
            <a:srgbClr val="3EAE97"/>
          </a:solidFill>
          <a:ln>
            <a:solidFill>
              <a:srgbClr val="3EA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3294400"/>
            <a:ext cx="530352" cy="29169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800" b="1" i="0">
                <a:solidFill>
                  <a:srgbClr val="FFFDF8"/>
                </a:solidFill>
                <a:latin typeface="Malgun Gothic"/>
              </a:rPr>
              <a:t>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3163824"/>
            <a:ext cx="1417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A2226"/>
                </a:solidFill>
                <a:latin typeface="Malgun Gothic"/>
              </a:rPr>
              <a:t>유민성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3502152"/>
            <a:ext cx="141732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endParaRPr sz="1200" b="0" i="0" dirty="0">
              <a:solidFill>
                <a:srgbClr val="606C6C"/>
              </a:solidFill>
              <a:latin typeface="Malgun Gothic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93008" y="2971800"/>
            <a:ext cx="2468880" cy="102412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694176" y="3209544"/>
            <a:ext cx="530352" cy="530352"/>
          </a:xfrm>
          <a:prstGeom prst="ellipse">
            <a:avLst/>
          </a:prstGeom>
          <a:solidFill>
            <a:srgbClr val="EF7052"/>
          </a:solidFill>
          <a:ln>
            <a:solidFill>
              <a:srgbClr val="EF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94176" y="3294400"/>
            <a:ext cx="530352" cy="29169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800" b="1" i="0">
                <a:solidFill>
                  <a:srgbClr val="FFFDF8"/>
                </a:solidFill>
                <a:latin typeface="Malgun Gothic"/>
              </a:rPr>
              <a:t>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3163824"/>
            <a:ext cx="1417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A2226"/>
                </a:solidFill>
                <a:latin typeface="Malgun Gothic"/>
              </a:rPr>
              <a:t>김정현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3502152"/>
            <a:ext cx="141732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endParaRPr sz="1200" b="0" i="0" dirty="0">
              <a:solidFill>
                <a:srgbClr val="606C6C"/>
              </a:solidFill>
              <a:latin typeface="Malgun Gothic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58368" y="4297680"/>
            <a:ext cx="2468880" cy="102412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59536" y="4535424"/>
            <a:ext cx="530352" cy="530352"/>
          </a:xfrm>
          <a:prstGeom prst="ellipse">
            <a:avLst/>
          </a:prstGeom>
          <a:solidFill>
            <a:srgbClr val="F4C74B"/>
          </a:solidFill>
          <a:ln>
            <a:solidFill>
              <a:srgbClr val="F4C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9536" y="4620280"/>
            <a:ext cx="530352" cy="29169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800" b="1" i="0">
                <a:solidFill>
                  <a:srgbClr val="FFFDF8"/>
                </a:solidFill>
                <a:latin typeface="Malgun Gothic"/>
              </a:rPr>
              <a:t>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4489704"/>
            <a:ext cx="1417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 dirty="0" err="1">
                <a:solidFill>
                  <a:srgbClr val="1A2226"/>
                </a:solidFill>
                <a:latin typeface="Malgun Gothic"/>
              </a:rPr>
              <a:t>이현우</a:t>
            </a:r>
            <a:endParaRPr sz="1600" b="1" i="0" dirty="0">
              <a:solidFill>
                <a:srgbClr val="1A2226"/>
              </a:solidFill>
              <a:latin typeface="Malgun Gothic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493008" y="4297680"/>
            <a:ext cx="2468880" cy="102412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694176" y="4535424"/>
            <a:ext cx="530352" cy="530352"/>
          </a:xfrm>
          <a:prstGeom prst="ellipse">
            <a:avLst/>
          </a:prstGeom>
          <a:solidFill>
            <a:srgbClr val="638EBA"/>
          </a:solidFill>
          <a:ln>
            <a:solidFill>
              <a:srgbClr val="638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94176" y="4620280"/>
            <a:ext cx="530352" cy="29169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800" b="1" i="0">
                <a:solidFill>
                  <a:srgbClr val="FFFDF8"/>
                </a:solidFill>
                <a:latin typeface="Malgun Gothic"/>
              </a:rPr>
              <a:t>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8" y="4489704"/>
            <a:ext cx="1417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A2226"/>
                </a:solidFill>
                <a:latin typeface="Malgun Gothic"/>
              </a:rPr>
              <a:t>박진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1664208"/>
            <a:ext cx="4709160" cy="4526280"/>
          </a:xfrm>
          <a:prstGeom prst="roundRect">
            <a:avLst/>
          </a:prstGeom>
          <a:solidFill>
            <a:srgbClr val="1A2226"/>
          </a:solidFill>
          <a:ln w="12700">
            <a:solidFill>
              <a:srgbClr val="1A2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14032" y="2057400"/>
            <a:ext cx="3474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4C74B"/>
                </a:solidFill>
                <a:latin typeface="Malgun Gothic"/>
              </a:rPr>
              <a:t>우리의 운영 원칙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4032" y="2560320"/>
            <a:ext cx="347472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FFFDF8"/>
                </a:solidFill>
                <a:latin typeface="Malgun Gothic"/>
              </a:rPr>
              <a:t>개인 리포트는 개인에게
팀에는 패턴만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132320" y="3840480"/>
            <a:ext cx="3794760" cy="0"/>
          </a:xfrm>
          <a:prstGeom prst="line">
            <a:avLst/>
          </a:prstGeom>
          <a:ln w="12700">
            <a:solidFill>
              <a:srgbClr val="48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7150608" y="4224528"/>
            <a:ext cx="100584" cy="100584"/>
          </a:xfrm>
          <a:prstGeom prst="ellipse">
            <a:avLst/>
          </a:prstGeom>
          <a:solidFill>
            <a:srgbClr val="3EAE97"/>
          </a:solidFill>
          <a:ln>
            <a:solidFill>
              <a:srgbClr val="3EA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51776" y="4160520"/>
            <a:ext cx="363931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FFFDF8"/>
                </a:solidFill>
                <a:latin typeface="Malgun Gothic"/>
              </a:rPr>
              <a:t>로그 원문은 로컬에만 저장</a:t>
            </a:r>
          </a:p>
        </p:txBody>
      </p:sp>
      <p:sp>
        <p:nvSpPr>
          <p:cNvPr id="35" name="Oval 34"/>
          <p:cNvSpPr/>
          <p:nvPr/>
        </p:nvSpPr>
        <p:spPr>
          <a:xfrm>
            <a:off x="7150608" y="4681728"/>
            <a:ext cx="100584" cy="100584"/>
          </a:xfrm>
          <a:prstGeom prst="ellipse">
            <a:avLst/>
          </a:prstGeom>
          <a:solidFill>
            <a:srgbClr val="EF7052"/>
          </a:solidFill>
          <a:ln>
            <a:solidFill>
              <a:srgbClr val="EF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51776" y="4617720"/>
            <a:ext cx="363931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FFFDF8"/>
                </a:solidFill>
                <a:latin typeface="Malgun Gothic"/>
              </a:rPr>
              <a:t>공유 여부는 본인이 결정</a:t>
            </a:r>
          </a:p>
        </p:txBody>
      </p:sp>
      <p:sp>
        <p:nvSpPr>
          <p:cNvPr id="37" name="Oval 36"/>
          <p:cNvSpPr/>
          <p:nvPr/>
        </p:nvSpPr>
        <p:spPr>
          <a:xfrm>
            <a:off x="7150608" y="5138928"/>
            <a:ext cx="100584" cy="100584"/>
          </a:xfrm>
          <a:prstGeom prst="ellipse">
            <a:avLst/>
          </a:prstGeom>
          <a:solidFill>
            <a:srgbClr val="F4C74B"/>
          </a:solidFill>
          <a:ln>
            <a:solidFill>
              <a:srgbClr val="F4C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51776" y="5074920"/>
            <a:ext cx="363931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FFFDF8"/>
                </a:solidFill>
                <a:latin typeface="Malgun Gothic"/>
              </a:rPr>
              <a:t>팀에는 인용 없는 패턴만 공유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86D5B"/>
                </a:solidFill>
                <a:latin typeface="Malgun Gothic"/>
              </a:rPr>
              <a:t>02 /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A2226"/>
                </a:solidFill>
                <a:latin typeface="Malgun Gothic"/>
              </a:rPr>
              <a:t>1~4주차는 산출물을 봤고, 5주차는 과정을 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84048"/>
            <a:ext cx="640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606C6C"/>
                </a:solidFill>
                <a:latin typeface="Malgun Gothic"/>
              </a:rPr>
              <a:t>05 / 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98448"/>
            <a:ext cx="11000232" cy="0"/>
          </a:xfrm>
          <a:prstGeom prst="line">
            <a:avLst/>
          </a:prstGeom>
          <a:ln w="12700">
            <a:solidFill>
              <a:srgbClr val="D7D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47104"/>
            <a:ext cx="2743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06C6C"/>
                </a:solidFill>
                <a:latin typeface="Malgun Gothic"/>
              </a:rPr>
              <a:t>TeamB · 5주차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2404872" cy="148132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2029968"/>
            <a:ext cx="438912" cy="438912"/>
          </a:xfrm>
          <a:prstGeom prst="ellipse">
            <a:avLst/>
          </a:prstGeom>
          <a:solidFill>
            <a:srgbClr val="3EAE97"/>
          </a:solidFill>
          <a:ln>
            <a:solidFill>
              <a:srgbClr val="3EA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100193"/>
            <a:ext cx="438912" cy="241401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Malgun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2029968"/>
            <a:ext cx="144475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A2226"/>
                </a:solidFill>
                <a:latin typeface="Malgun Gothic"/>
              </a:rPr>
              <a:t>회의록 자동화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633472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606C6C"/>
                </a:solidFill>
                <a:latin typeface="Malgun Gothic"/>
              </a:rPr>
              <a:t>회의 기록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08960" y="2560320"/>
            <a:ext cx="338328" cy="0"/>
          </a:xfrm>
          <a:prstGeom prst="line">
            <a:avLst/>
          </a:prstGeom>
          <a:ln w="25400">
            <a:solidFill>
              <a:srgbClr val="D7D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6432" y="1828800"/>
            <a:ext cx="2404872" cy="148132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639312" y="2029968"/>
            <a:ext cx="438912" cy="438912"/>
          </a:xfrm>
          <a:prstGeom prst="ellipse">
            <a:avLst/>
          </a:prstGeom>
          <a:solidFill>
            <a:srgbClr val="EF7052"/>
          </a:solidFill>
          <a:ln>
            <a:solidFill>
              <a:srgbClr val="EF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9312" y="2100193"/>
            <a:ext cx="438912" cy="241401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Malgun Gothi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029968"/>
            <a:ext cx="144475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A2226"/>
                </a:solidFill>
                <a:latin typeface="Malgun Gothic"/>
              </a:rPr>
              <a:t>/알려주기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33472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606C6C"/>
                </a:solidFill>
                <a:latin typeface="Malgun Gothic"/>
              </a:rPr>
              <a:t>배운 개념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79592" y="2560320"/>
            <a:ext cx="338328" cy="0"/>
          </a:xfrm>
          <a:prstGeom prst="line">
            <a:avLst/>
          </a:prstGeom>
          <a:ln w="25400">
            <a:solidFill>
              <a:srgbClr val="D7D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27064" y="1828800"/>
            <a:ext cx="2404872" cy="148132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09944" y="2029968"/>
            <a:ext cx="438912" cy="438912"/>
          </a:xfrm>
          <a:prstGeom prst="ellipse">
            <a:avLst/>
          </a:prstGeom>
          <a:solidFill>
            <a:srgbClr val="F4C74B"/>
          </a:solidFill>
          <a:ln>
            <a:solidFill>
              <a:srgbClr val="F4C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9944" y="2100193"/>
            <a:ext cx="438912" cy="241401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Malgun Gothi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6872" y="2029968"/>
            <a:ext cx="144475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A2226"/>
                </a:solidFill>
                <a:latin typeface="Malgun Gothic"/>
              </a:rPr>
              <a:t>/codebook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1" y="2633472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606C6C"/>
                </a:solidFill>
                <a:latin typeface="Malgun Gothic"/>
              </a:rPr>
              <a:t>남의 코드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50224" y="2560320"/>
            <a:ext cx="338328" cy="0"/>
          </a:xfrm>
          <a:prstGeom prst="line">
            <a:avLst/>
          </a:prstGeom>
          <a:ln w="25400">
            <a:solidFill>
              <a:srgbClr val="D7D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97696" y="1828800"/>
            <a:ext cx="2404872" cy="148132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180576" y="2029968"/>
            <a:ext cx="438912" cy="438912"/>
          </a:xfrm>
          <a:prstGeom prst="ellipse">
            <a:avLst/>
          </a:prstGeom>
          <a:solidFill>
            <a:srgbClr val="638EBA"/>
          </a:solidFill>
          <a:ln>
            <a:solidFill>
              <a:srgbClr val="638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80576" y="2100193"/>
            <a:ext cx="438912" cy="241401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Malgun Gothic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47504" y="2029968"/>
            <a:ext cx="144475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A2226"/>
                </a:solidFill>
                <a:latin typeface="Malgun Gothic"/>
              </a:rPr>
              <a:t>/cleanflow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8864" y="2633472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606C6C"/>
                </a:solidFill>
                <a:latin typeface="Malgun Gothic"/>
              </a:rPr>
              <a:t>코드의 배치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160520"/>
            <a:ext cx="6400800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900" b="1" i="0">
                <a:solidFill>
                  <a:srgbClr val="1A2226"/>
                </a:solidFill>
                <a:latin typeface="Malgun Gothic"/>
              </a:rPr>
              <a:t>그런데 결과를 만든 지시문은
한 번도 보지 않았습니다.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18120" y="3886200"/>
            <a:ext cx="3520440" cy="1627632"/>
          </a:xfrm>
          <a:prstGeom prst="roundRect">
            <a:avLst/>
          </a:prstGeom>
          <a:solidFill>
            <a:srgbClr val="EF7052"/>
          </a:solidFill>
          <a:ln w="12700">
            <a:solidFill>
              <a:srgbClr val="EF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93271" y="4279392"/>
            <a:ext cx="3170138" cy="6894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 i="0" dirty="0" err="1">
                <a:solidFill>
                  <a:srgbClr val="FFFDF8"/>
                </a:solidFill>
                <a:latin typeface="Malgun Gothic"/>
              </a:rPr>
              <a:t>같은</a:t>
            </a:r>
            <a:r>
              <a:rPr sz="2000" b="1" i="0" dirty="0">
                <a:solidFill>
                  <a:srgbClr val="FFFDF8"/>
                </a:solidFill>
                <a:latin typeface="Malgun Gothic"/>
              </a:rPr>
              <a:t> </a:t>
            </a:r>
            <a:r>
              <a:rPr sz="2000" b="1" i="0" dirty="0" err="1">
                <a:solidFill>
                  <a:srgbClr val="FFFDF8"/>
                </a:solidFill>
                <a:latin typeface="Malgun Gothic"/>
              </a:rPr>
              <a:t>도구를</a:t>
            </a:r>
            <a:r>
              <a:rPr sz="2000" b="1" i="0" dirty="0">
                <a:solidFill>
                  <a:srgbClr val="FFFDF8"/>
                </a:solidFill>
                <a:latin typeface="Malgun Gothic"/>
              </a:rPr>
              <a:t> </a:t>
            </a:r>
            <a:r>
              <a:rPr sz="2000" b="1" i="0" dirty="0" err="1">
                <a:solidFill>
                  <a:srgbClr val="FFFDF8"/>
                </a:solidFill>
                <a:latin typeface="Malgun Gothic"/>
              </a:rPr>
              <a:t>써도</a:t>
            </a:r>
            <a:r>
              <a:rPr sz="2000" b="1" i="0" dirty="0">
                <a:solidFill>
                  <a:srgbClr val="FFFDF8"/>
                </a:solidFill>
                <a:latin typeface="Malgun Gothic"/>
              </a:rPr>
              <a:t>
</a:t>
            </a:r>
            <a:r>
              <a:rPr sz="2000" b="1" i="0" dirty="0" err="1">
                <a:solidFill>
                  <a:srgbClr val="FFFDF8"/>
                </a:solidFill>
                <a:latin typeface="Malgun Gothic"/>
              </a:rPr>
              <a:t>결과가</a:t>
            </a:r>
            <a:r>
              <a:rPr sz="2000" b="1" i="0" dirty="0">
                <a:solidFill>
                  <a:srgbClr val="FFFDF8"/>
                </a:solidFill>
                <a:latin typeface="Malgun Gothic"/>
              </a:rPr>
              <a:t> </a:t>
            </a:r>
            <a:r>
              <a:rPr sz="2000" b="1" i="0" dirty="0" err="1">
                <a:solidFill>
                  <a:srgbClr val="FFFDF8"/>
                </a:solidFill>
                <a:latin typeface="Malgun Gothic"/>
              </a:rPr>
              <a:t>사람마다</a:t>
            </a:r>
            <a:r>
              <a:rPr sz="2000" b="1" i="0" dirty="0">
                <a:solidFill>
                  <a:srgbClr val="FFFDF8"/>
                </a:solidFill>
                <a:latin typeface="Malgun Gothic"/>
              </a:rPr>
              <a:t> </a:t>
            </a:r>
            <a:r>
              <a:rPr sz="2000" b="1" i="0" dirty="0" err="1">
                <a:solidFill>
                  <a:srgbClr val="FFFDF8"/>
                </a:solidFill>
                <a:latin typeface="Malgun Gothic"/>
              </a:rPr>
              <a:t>다른</a:t>
            </a:r>
            <a:r>
              <a:rPr sz="2000" b="1" i="0" dirty="0">
                <a:solidFill>
                  <a:srgbClr val="FFFDF8"/>
                </a:solidFill>
                <a:latin typeface="Malgun Gothic"/>
              </a:rPr>
              <a:t> </a:t>
            </a:r>
            <a:r>
              <a:rPr sz="2000" b="1" i="0" dirty="0" err="1">
                <a:solidFill>
                  <a:srgbClr val="FFFDF8"/>
                </a:solidFill>
                <a:latin typeface="Malgun Gothic"/>
              </a:rPr>
              <a:t>이유</a:t>
            </a:r>
            <a:endParaRPr sz="2000" b="1" i="0" dirty="0">
              <a:solidFill>
                <a:srgbClr val="FFFDF8"/>
              </a:solidFill>
              <a:latin typeface="Malgun Gothi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119872" y="5093208"/>
            <a:ext cx="2926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FFFDF8"/>
                </a:solidFill>
                <a:latin typeface="Malgun Gothic"/>
              </a:rPr>
              <a:t>지시문에 차이가 있기 때문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86D5B"/>
                </a:solidFill>
                <a:latin typeface="Malgun Gothic"/>
              </a:rPr>
              <a:t>03 /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A2226"/>
                </a:solidFill>
                <a:latin typeface="Malgun Gothic"/>
              </a:rPr>
              <a:t>결과는 결국 성공하지만, 그 과정에 개선점이 남습니다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84048"/>
            <a:ext cx="640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606C6C"/>
                </a:solidFill>
                <a:latin typeface="Malgun Gothic"/>
              </a:rPr>
              <a:t>05 / 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98448"/>
            <a:ext cx="11000232" cy="0"/>
          </a:xfrm>
          <a:prstGeom prst="line">
            <a:avLst/>
          </a:prstGeom>
          <a:ln w="12700">
            <a:solidFill>
              <a:srgbClr val="D7D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47104"/>
            <a:ext cx="2743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06C6C"/>
                </a:solidFill>
                <a:latin typeface="Malgun Gothic"/>
              </a:rPr>
              <a:t>TeamB · 5주차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64208"/>
            <a:ext cx="5303520" cy="5970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 dirty="0" err="1">
                <a:solidFill>
                  <a:srgbClr val="1A2226"/>
                </a:solidFill>
                <a:latin typeface="Malgun Gothic"/>
              </a:rPr>
              <a:t>대부분의</a:t>
            </a:r>
            <a:r>
              <a:rPr sz="1700" b="1" i="0" dirty="0">
                <a:solidFill>
                  <a:srgbClr val="1A2226"/>
                </a:solidFill>
                <a:latin typeface="Malgun Gothic"/>
              </a:rPr>
              <a:t> </a:t>
            </a:r>
            <a:r>
              <a:rPr sz="1700" b="1" i="0" dirty="0" err="1">
                <a:solidFill>
                  <a:srgbClr val="1A2226"/>
                </a:solidFill>
                <a:latin typeface="Malgun Gothic"/>
              </a:rPr>
              <a:t>세션은</a:t>
            </a:r>
            <a:r>
              <a:rPr sz="1700" b="1" i="0" dirty="0">
                <a:solidFill>
                  <a:srgbClr val="1A2226"/>
                </a:solidFill>
                <a:latin typeface="Malgun Gothic"/>
              </a:rPr>
              <a:t> </a:t>
            </a:r>
            <a:r>
              <a:rPr sz="1700" b="1" i="0" dirty="0" err="1">
                <a:solidFill>
                  <a:srgbClr val="1A2226"/>
                </a:solidFill>
                <a:latin typeface="Malgun Gothic"/>
              </a:rPr>
              <a:t>결국</a:t>
            </a:r>
            <a:r>
              <a:rPr sz="1700" b="1" i="0" dirty="0">
                <a:solidFill>
                  <a:srgbClr val="1A2226"/>
                </a:solidFill>
                <a:latin typeface="Malgun Gothic"/>
              </a:rPr>
              <a:t> </a:t>
            </a:r>
            <a:r>
              <a:rPr sz="1700" b="1" i="0" dirty="0" err="1">
                <a:solidFill>
                  <a:srgbClr val="1A2226"/>
                </a:solidFill>
                <a:latin typeface="Malgun Gothic"/>
              </a:rPr>
              <a:t>성공합니다</a:t>
            </a:r>
            <a:r>
              <a:rPr sz="1700" b="1" i="0" dirty="0">
                <a:solidFill>
                  <a:srgbClr val="1A2226"/>
                </a:solidFill>
                <a:latin typeface="Malgun Gothic"/>
              </a:rPr>
              <a:t>.
</a:t>
            </a:r>
            <a:r>
              <a:rPr sz="1700" b="1" i="0" dirty="0" err="1">
                <a:solidFill>
                  <a:srgbClr val="1A2226"/>
                </a:solidFill>
                <a:latin typeface="Malgun Gothic"/>
              </a:rPr>
              <a:t>AI가</a:t>
            </a:r>
            <a:r>
              <a:rPr sz="1700" b="1" i="0" dirty="0">
                <a:solidFill>
                  <a:srgbClr val="1A2226"/>
                </a:solidFill>
                <a:latin typeface="Malgun Gothic"/>
              </a:rPr>
              <a:t> 못 </a:t>
            </a:r>
            <a:r>
              <a:rPr sz="1700" b="1" i="0" dirty="0" err="1">
                <a:solidFill>
                  <a:srgbClr val="1A2226"/>
                </a:solidFill>
                <a:latin typeface="Malgun Gothic"/>
              </a:rPr>
              <a:t>알아들으면</a:t>
            </a:r>
            <a:r>
              <a:rPr sz="1700" b="1" i="0" dirty="0">
                <a:solidFill>
                  <a:srgbClr val="1A2226"/>
                </a:solidFill>
                <a:latin typeface="Malgun Gothic"/>
              </a:rPr>
              <a:t> </a:t>
            </a:r>
            <a:r>
              <a:rPr sz="1700" b="1" i="0" dirty="0" err="1">
                <a:solidFill>
                  <a:srgbClr val="1A2226"/>
                </a:solidFill>
                <a:latin typeface="Malgun Gothic"/>
              </a:rPr>
              <a:t>사람이</a:t>
            </a:r>
            <a:r>
              <a:rPr sz="1700" b="1" i="0" dirty="0">
                <a:solidFill>
                  <a:srgbClr val="1A2226"/>
                </a:solidFill>
                <a:latin typeface="Malgun Gothic"/>
              </a:rPr>
              <a:t> </a:t>
            </a:r>
            <a:r>
              <a:rPr sz="1700" b="1" i="0" dirty="0" err="1">
                <a:solidFill>
                  <a:srgbClr val="1A2226"/>
                </a:solidFill>
                <a:latin typeface="Malgun Gothic"/>
              </a:rPr>
              <a:t>다시</a:t>
            </a:r>
            <a:r>
              <a:rPr sz="1700" b="1" i="0" dirty="0">
                <a:solidFill>
                  <a:srgbClr val="1A2226"/>
                </a:solidFill>
                <a:latin typeface="Malgun Gothic"/>
              </a:rPr>
              <a:t> </a:t>
            </a:r>
            <a:r>
              <a:rPr sz="1700" b="1" i="0" dirty="0" err="1">
                <a:solidFill>
                  <a:srgbClr val="1A2226"/>
                </a:solidFill>
                <a:latin typeface="Malgun Gothic"/>
              </a:rPr>
              <a:t>말해주기</a:t>
            </a:r>
            <a:r>
              <a:rPr sz="1700" b="1" i="0" dirty="0">
                <a:solidFill>
                  <a:srgbClr val="1A2226"/>
                </a:solidFill>
                <a:latin typeface="Malgun Gothic"/>
              </a:rPr>
              <a:t> </a:t>
            </a:r>
            <a:r>
              <a:rPr sz="1700" b="1" i="0" smtClean="0">
                <a:solidFill>
                  <a:srgbClr val="1A2226"/>
                </a:solidFill>
                <a:latin typeface="Malgun Gothic"/>
              </a:rPr>
              <a:t>때문입니다</a:t>
            </a:r>
            <a:endParaRPr sz="1700" b="1" i="0">
              <a:solidFill>
                <a:srgbClr val="1A2226"/>
              </a:solidFill>
              <a:latin typeface="Malgun Gothic"/>
            </a:endParaRPr>
          </a:p>
        </p:txBody>
      </p:sp>
      <p:sp>
        <p:nvSpPr>
          <p:cNvPr id="8" name="Oval 7"/>
          <p:cNvSpPr/>
          <p:nvPr/>
        </p:nvSpPr>
        <p:spPr>
          <a:xfrm>
            <a:off x="6629400" y="1737360"/>
            <a:ext cx="777240" cy="777240"/>
          </a:xfrm>
          <a:prstGeom prst="ellipse">
            <a:avLst/>
          </a:prstGeom>
          <a:solidFill>
            <a:srgbClr val="3EAE97"/>
          </a:solidFill>
          <a:ln>
            <a:solidFill>
              <a:srgbClr val="3EA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1861718"/>
            <a:ext cx="777240" cy="42748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300" b="1" i="0">
                <a:solidFill>
                  <a:srgbClr val="FFFDF8"/>
                </a:solidFill>
                <a:latin typeface="Malgun Gothic"/>
              </a:rPr>
              <a:t>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5936" y="2668736"/>
            <a:ext cx="1645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 i="0" dirty="0" err="1">
                <a:solidFill>
                  <a:srgbClr val="606C6C"/>
                </a:solidFill>
                <a:latin typeface="Malgun Gothic"/>
              </a:rPr>
              <a:t>처음</a:t>
            </a:r>
            <a:r>
              <a:rPr sz="1200" b="1" i="0" dirty="0">
                <a:solidFill>
                  <a:srgbClr val="606C6C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606C6C"/>
                </a:solidFill>
                <a:latin typeface="Malgun Gothic"/>
              </a:rPr>
              <a:t>지시</a:t>
            </a:r>
            <a:endParaRPr sz="1200" b="1" i="0" dirty="0">
              <a:solidFill>
                <a:srgbClr val="606C6C"/>
              </a:solidFill>
              <a:latin typeface="Malgun Gothic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613648" y="2880360"/>
            <a:ext cx="777240" cy="777240"/>
          </a:xfrm>
          <a:prstGeom prst="ellipse">
            <a:avLst/>
          </a:prstGeom>
          <a:solidFill>
            <a:srgbClr val="EF7052"/>
          </a:solidFill>
          <a:ln>
            <a:solidFill>
              <a:srgbClr val="EF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13648" y="3004718"/>
            <a:ext cx="777240" cy="42748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300" b="1" i="0">
                <a:solidFill>
                  <a:srgbClr val="FFFDF8"/>
                </a:solidFill>
                <a:latin typeface="Malgun Gothic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767328"/>
            <a:ext cx="1645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 i="0" dirty="0" err="1">
                <a:solidFill>
                  <a:srgbClr val="606C6C"/>
                </a:solidFill>
                <a:latin typeface="Malgun Gothic"/>
              </a:rPr>
              <a:t>결과</a:t>
            </a:r>
            <a:r>
              <a:rPr sz="1200" b="1" i="0" dirty="0">
                <a:solidFill>
                  <a:srgbClr val="606C6C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606C6C"/>
                </a:solidFill>
                <a:latin typeface="Malgun Gothic"/>
              </a:rPr>
              <a:t>어긋남</a:t>
            </a:r>
            <a:endParaRPr sz="1200" b="1" i="0" dirty="0">
              <a:solidFill>
                <a:srgbClr val="606C6C"/>
              </a:solidFill>
              <a:latin typeface="Malgun Gothic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532120" y="4160520"/>
            <a:ext cx="777240" cy="777240"/>
          </a:xfrm>
          <a:prstGeom prst="ellipse">
            <a:avLst/>
          </a:prstGeom>
          <a:solidFill>
            <a:srgbClr val="F4C74B"/>
          </a:solidFill>
          <a:ln>
            <a:solidFill>
              <a:srgbClr val="F4C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32120" y="4284878"/>
            <a:ext cx="777240" cy="42748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300" b="1" i="0">
                <a:solidFill>
                  <a:srgbClr val="1A2226"/>
                </a:solidFill>
                <a:latin typeface="Malgun Gothic"/>
              </a:rPr>
              <a:t>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5047488"/>
            <a:ext cx="1645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606C6C"/>
                </a:solidFill>
                <a:latin typeface="Malgun Gothic"/>
              </a:rPr>
              <a:t>다시 지시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96912" y="2084831"/>
            <a:ext cx="1344168" cy="978409"/>
          </a:xfrm>
          <a:prstGeom prst="line">
            <a:avLst/>
          </a:prstGeom>
          <a:ln w="25400">
            <a:solidFill>
              <a:srgbClr val="3EA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6181344" y="3657600"/>
            <a:ext cx="2551176" cy="640080"/>
          </a:xfrm>
          <a:prstGeom prst="line">
            <a:avLst/>
          </a:prstGeom>
          <a:ln w="25400">
            <a:solidFill>
              <a:srgbClr val="EF7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833872" y="2468880"/>
            <a:ext cx="1024128" cy="1719072"/>
          </a:xfrm>
          <a:prstGeom prst="line">
            <a:avLst/>
          </a:prstGeom>
          <a:ln w="25400">
            <a:solidFill>
              <a:srgbClr val="F4C7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58368" y="2880360"/>
            <a:ext cx="4297680" cy="202996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3200400"/>
            <a:ext cx="34747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86D5B"/>
                </a:solidFill>
                <a:latin typeface="Malgun Gothic"/>
              </a:rPr>
              <a:t>좋은 프롬프트의 정의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919" y="3657600"/>
            <a:ext cx="4780353" cy="781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 i="0" dirty="0" err="1">
                <a:solidFill>
                  <a:srgbClr val="1A2226"/>
                </a:solidFill>
                <a:latin typeface="Malgun Gothic"/>
              </a:rPr>
              <a:t>같은</a:t>
            </a:r>
            <a:r>
              <a:rPr sz="2300" b="1" i="0" dirty="0">
                <a:solidFill>
                  <a:srgbClr val="1A2226"/>
                </a:solidFill>
                <a:latin typeface="Malgun Gothic"/>
              </a:rPr>
              <a:t> </a:t>
            </a:r>
            <a:r>
              <a:rPr sz="2300" b="1" i="0" dirty="0" err="1">
                <a:solidFill>
                  <a:srgbClr val="1A2226"/>
                </a:solidFill>
                <a:latin typeface="Malgun Gothic"/>
              </a:rPr>
              <a:t>결과를</a:t>
            </a:r>
            <a:r>
              <a:rPr sz="2300" b="1" i="0" dirty="0">
                <a:solidFill>
                  <a:srgbClr val="1A2226"/>
                </a:solidFill>
                <a:latin typeface="Malgun Gothic"/>
              </a:rPr>
              <a:t>
더 </a:t>
            </a:r>
            <a:r>
              <a:rPr sz="2300" b="1" i="0" dirty="0" err="1">
                <a:solidFill>
                  <a:srgbClr val="1A2226"/>
                </a:solidFill>
                <a:latin typeface="Malgun Gothic"/>
              </a:rPr>
              <a:t>적은</a:t>
            </a:r>
            <a:r>
              <a:rPr sz="2300" b="1" i="0" dirty="0">
                <a:solidFill>
                  <a:srgbClr val="1A2226"/>
                </a:solidFill>
                <a:latin typeface="Malgun Gothic"/>
              </a:rPr>
              <a:t> </a:t>
            </a:r>
            <a:r>
              <a:rPr sz="2300" b="1" i="0" dirty="0" err="1">
                <a:solidFill>
                  <a:srgbClr val="1A2226"/>
                </a:solidFill>
                <a:latin typeface="Malgun Gothic"/>
              </a:rPr>
              <a:t>왕복으로</a:t>
            </a:r>
            <a:r>
              <a:rPr sz="2300" b="1" i="0" dirty="0">
                <a:solidFill>
                  <a:srgbClr val="1A2226"/>
                </a:solidFill>
                <a:latin typeface="Malgun Gothic"/>
              </a:rPr>
              <a:t> </a:t>
            </a:r>
            <a:r>
              <a:rPr sz="2300" b="1" i="0" dirty="0" err="1">
                <a:solidFill>
                  <a:srgbClr val="1A2226"/>
                </a:solidFill>
                <a:latin typeface="Malgun Gothic"/>
              </a:rPr>
              <a:t>얻는</a:t>
            </a:r>
            <a:r>
              <a:rPr sz="2300" b="1" i="0" dirty="0">
                <a:solidFill>
                  <a:srgbClr val="1A2226"/>
                </a:solidFill>
                <a:latin typeface="Malgun Gothic"/>
              </a:rPr>
              <a:t> </a:t>
            </a:r>
            <a:r>
              <a:rPr sz="2300" b="1" i="0" dirty="0" err="1">
                <a:solidFill>
                  <a:srgbClr val="1A2226"/>
                </a:solidFill>
                <a:latin typeface="Malgun Gothic"/>
              </a:rPr>
              <a:t>지시문</a:t>
            </a:r>
            <a:endParaRPr sz="2300" b="1" i="0" dirty="0">
              <a:solidFill>
                <a:srgbClr val="1A2226"/>
              </a:solidFill>
              <a:latin typeface="Malgun Gothi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8680" y="4498619"/>
            <a:ext cx="36576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 dirty="0" err="1">
                <a:solidFill>
                  <a:srgbClr val="606C6C"/>
                </a:solidFill>
                <a:latin typeface="Malgun Gothic"/>
              </a:rPr>
              <a:t>짧고</a:t>
            </a:r>
            <a:r>
              <a:rPr sz="1100" b="0" i="0" dirty="0">
                <a:solidFill>
                  <a:srgbClr val="606C6C"/>
                </a:solidFill>
                <a:latin typeface="Malgun Gothic"/>
              </a:rPr>
              <a:t> 긴 </a:t>
            </a:r>
            <a:r>
              <a:rPr sz="1100" b="0" i="0" dirty="0" err="1">
                <a:solidFill>
                  <a:srgbClr val="606C6C"/>
                </a:solidFill>
                <a:latin typeface="Malgun Gothic"/>
              </a:rPr>
              <a:t>것이</a:t>
            </a:r>
            <a:r>
              <a:rPr sz="1100" b="0" i="0" dirty="0">
                <a:solidFill>
                  <a:srgbClr val="606C6C"/>
                </a:solidFill>
                <a:latin typeface="Malgun Gothic"/>
              </a:rPr>
              <a:t> </a:t>
            </a:r>
            <a:r>
              <a:rPr sz="1100" b="0" i="0" dirty="0" err="1">
                <a:solidFill>
                  <a:srgbClr val="606C6C"/>
                </a:solidFill>
                <a:latin typeface="Malgun Gothic"/>
              </a:rPr>
              <a:t>기준이</a:t>
            </a:r>
            <a:r>
              <a:rPr sz="1100" b="0" i="0" dirty="0">
                <a:solidFill>
                  <a:srgbClr val="606C6C"/>
                </a:solidFill>
                <a:latin typeface="Malgun Gothic"/>
              </a:rPr>
              <a:t> </a:t>
            </a:r>
            <a:r>
              <a:rPr sz="1100" b="0" i="0" dirty="0" err="1">
                <a:solidFill>
                  <a:srgbClr val="606C6C"/>
                </a:solidFill>
                <a:latin typeface="Malgun Gothic"/>
              </a:rPr>
              <a:t>아니라</a:t>
            </a:r>
            <a:r>
              <a:rPr sz="1100" b="0" i="0" dirty="0">
                <a:solidFill>
                  <a:srgbClr val="606C6C"/>
                </a:solidFill>
                <a:latin typeface="Malgun Gothic"/>
              </a:rPr>
              <a:t>, </a:t>
            </a:r>
            <a:r>
              <a:rPr sz="1100" b="0" i="0" dirty="0" err="1">
                <a:solidFill>
                  <a:srgbClr val="606C6C"/>
                </a:solidFill>
                <a:latin typeface="Malgun Gothic"/>
              </a:rPr>
              <a:t>되돌아갔는지가</a:t>
            </a:r>
            <a:r>
              <a:rPr sz="1100" b="0" i="0" dirty="0">
                <a:solidFill>
                  <a:srgbClr val="606C6C"/>
                </a:solidFill>
                <a:latin typeface="Malgun Gothic"/>
              </a:rPr>
              <a:t> </a:t>
            </a:r>
            <a:r>
              <a:rPr sz="1100" b="0" i="0" dirty="0" err="1">
                <a:solidFill>
                  <a:srgbClr val="606C6C"/>
                </a:solidFill>
                <a:latin typeface="Malgun Gothic"/>
              </a:rPr>
              <a:t>기준입니다</a:t>
            </a:r>
            <a:r>
              <a:rPr sz="1100" b="0" i="0" dirty="0">
                <a:solidFill>
                  <a:srgbClr val="606C6C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86D5B"/>
                </a:solidFill>
                <a:latin typeface="Malgun Gothic"/>
              </a:rPr>
              <a:t>04 /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A2226"/>
                </a:solidFill>
                <a:latin typeface="Malgun Gothic"/>
              </a:rPr>
              <a:t>숫자가 아니라 재작업 사슬을 읽습니다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84048"/>
            <a:ext cx="640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606C6C"/>
                </a:solidFill>
                <a:latin typeface="Malgun Gothic"/>
              </a:rPr>
              <a:t>05 / 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98448"/>
            <a:ext cx="11000232" cy="0"/>
          </a:xfrm>
          <a:prstGeom prst="line">
            <a:avLst/>
          </a:prstGeom>
          <a:ln w="12700">
            <a:solidFill>
              <a:srgbClr val="D7D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47104"/>
            <a:ext cx="2743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06C6C"/>
                </a:solidFill>
                <a:latin typeface="Malgun Gothic"/>
              </a:rPr>
              <a:t>TeamB · 5주차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9344"/>
            <a:ext cx="6400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A2226"/>
                </a:solidFill>
                <a:latin typeface="Malgun Gothic"/>
              </a:rPr>
              <a:t>기계적 신호는 어디부터 읽을지 정하는 단서입니다.
판정은 반드시 프롬프트 전문과 실제 맥락으로 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42032"/>
            <a:ext cx="3474720" cy="25146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852928"/>
            <a:ext cx="2743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86D5B"/>
                </a:solidFill>
                <a:latin typeface="Malgun Gothic"/>
              </a:rPr>
              <a:t>기계가 세는 것</a:t>
            </a:r>
          </a:p>
        </p:txBody>
      </p:sp>
      <p:sp>
        <p:nvSpPr>
          <p:cNvPr id="10" name="Oval 9"/>
          <p:cNvSpPr/>
          <p:nvPr/>
        </p:nvSpPr>
        <p:spPr>
          <a:xfrm>
            <a:off x="969264" y="3337560"/>
            <a:ext cx="100584" cy="100584"/>
          </a:xfrm>
          <a:prstGeom prst="ellipse">
            <a:avLst/>
          </a:prstGeom>
          <a:solidFill>
            <a:srgbClr val="3EAE97"/>
          </a:solidFill>
          <a:ln>
            <a:solidFill>
              <a:srgbClr val="3EA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3273552"/>
            <a:ext cx="254203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1A2226"/>
                </a:solidFill>
                <a:latin typeface="Malgun Gothic"/>
              </a:rPr>
              <a:t>프롬프트 수</a:t>
            </a:r>
          </a:p>
        </p:txBody>
      </p:sp>
      <p:sp>
        <p:nvSpPr>
          <p:cNvPr id="12" name="Oval 11"/>
          <p:cNvSpPr/>
          <p:nvPr/>
        </p:nvSpPr>
        <p:spPr>
          <a:xfrm>
            <a:off x="969264" y="3721608"/>
            <a:ext cx="100584" cy="100584"/>
          </a:xfrm>
          <a:prstGeom prst="ellipse">
            <a:avLst/>
          </a:prstGeom>
          <a:solidFill>
            <a:srgbClr val="3EAE97"/>
          </a:solidFill>
          <a:ln>
            <a:solidFill>
              <a:srgbClr val="3EA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0432" y="3657600"/>
            <a:ext cx="254203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1A2226"/>
                </a:solidFill>
                <a:latin typeface="Malgun Gothic"/>
              </a:rPr>
              <a:t>길이 중앙값</a:t>
            </a:r>
          </a:p>
        </p:txBody>
      </p:sp>
      <p:sp>
        <p:nvSpPr>
          <p:cNvPr id="14" name="Oval 13"/>
          <p:cNvSpPr/>
          <p:nvPr/>
        </p:nvSpPr>
        <p:spPr>
          <a:xfrm>
            <a:off x="969264" y="4105656"/>
            <a:ext cx="100584" cy="100584"/>
          </a:xfrm>
          <a:prstGeom prst="ellipse">
            <a:avLst/>
          </a:prstGeom>
          <a:solidFill>
            <a:srgbClr val="3EAE97"/>
          </a:solidFill>
          <a:ln>
            <a:solidFill>
              <a:srgbClr val="3EA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70432" y="4041648"/>
            <a:ext cx="254203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1A2226"/>
                </a:solidFill>
                <a:latin typeface="Malgun Gothic"/>
              </a:rPr>
              <a:t>단문 비율</a:t>
            </a:r>
          </a:p>
        </p:txBody>
      </p:sp>
      <p:sp>
        <p:nvSpPr>
          <p:cNvPr id="16" name="Oval 15"/>
          <p:cNvSpPr/>
          <p:nvPr/>
        </p:nvSpPr>
        <p:spPr>
          <a:xfrm>
            <a:off x="969264" y="4489704"/>
            <a:ext cx="100584" cy="100584"/>
          </a:xfrm>
          <a:prstGeom prst="ellipse">
            <a:avLst/>
          </a:prstGeom>
          <a:solidFill>
            <a:srgbClr val="3EAE97"/>
          </a:solidFill>
          <a:ln>
            <a:solidFill>
              <a:srgbClr val="3EA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70432" y="4425696"/>
            <a:ext cx="2542032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1A2226"/>
                </a:solidFill>
                <a:latin typeface="Malgun Gothic"/>
              </a:rPr>
              <a:t>되돌리기 신호어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62272" y="2542032"/>
            <a:ext cx="3474720" cy="2514600"/>
          </a:xfrm>
          <a:prstGeom prst="roundRect">
            <a:avLst/>
          </a:prstGeom>
          <a:solidFill>
            <a:srgbClr val="1A2226"/>
          </a:solidFill>
          <a:ln w="12700">
            <a:solidFill>
              <a:srgbClr val="1A2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64024" y="2852928"/>
            <a:ext cx="2743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4C74B"/>
                </a:solidFill>
                <a:latin typeface="Malgun Gothic"/>
              </a:rPr>
              <a:t>사람이 판단하는 것</a:t>
            </a:r>
          </a:p>
        </p:txBody>
      </p:sp>
      <p:sp>
        <p:nvSpPr>
          <p:cNvPr id="20" name="Oval 19"/>
          <p:cNvSpPr/>
          <p:nvPr/>
        </p:nvSpPr>
        <p:spPr>
          <a:xfrm>
            <a:off x="4773168" y="3337560"/>
            <a:ext cx="100584" cy="100584"/>
          </a:xfrm>
          <a:prstGeom prst="ellipse">
            <a:avLst/>
          </a:prstGeom>
          <a:solidFill>
            <a:srgbClr val="EF7052"/>
          </a:solidFill>
          <a:ln>
            <a:solidFill>
              <a:srgbClr val="EF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74336" y="3273552"/>
            <a:ext cx="2587751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FFDF8"/>
                </a:solidFill>
                <a:latin typeface="Malgun Gothic"/>
              </a:rPr>
              <a:t>어디서 어긋났는가</a:t>
            </a:r>
          </a:p>
        </p:txBody>
      </p:sp>
      <p:sp>
        <p:nvSpPr>
          <p:cNvPr id="22" name="Oval 21"/>
          <p:cNvSpPr/>
          <p:nvPr/>
        </p:nvSpPr>
        <p:spPr>
          <a:xfrm>
            <a:off x="4773168" y="3721608"/>
            <a:ext cx="100584" cy="100584"/>
          </a:xfrm>
          <a:prstGeom prst="ellipse">
            <a:avLst/>
          </a:prstGeom>
          <a:solidFill>
            <a:srgbClr val="EF7052"/>
          </a:solidFill>
          <a:ln>
            <a:solidFill>
              <a:srgbClr val="EF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74336" y="3657600"/>
            <a:ext cx="2587751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FFDF8"/>
                </a:solidFill>
                <a:latin typeface="Malgun Gothic"/>
              </a:rPr>
              <a:t>무엇이 빠졌는가</a:t>
            </a:r>
          </a:p>
        </p:txBody>
      </p:sp>
      <p:sp>
        <p:nvSpPr>
          <p:cNvPr id="24" name="Oval 23"/>
          <p:cNvSpPr/>
          <p:nvPr/>
        </p:nvSpPr>
        <p:spPr>
          <a:xfrm>
            <a:off x="4773168" y="4105656"/>
            <a:ext cx="100584" cy="100584"/>
          </a:xfrm>
          <a:prstGeom prst="ellipse">
            <a:avLst/>
          </a:prstGeom>
          <a:solidFill>
            <a:srgbClr val="EF7052"/>
          </a:solidFill>
          <a:ln>
            <a:solidFill>
              <a:srgbClr val="EF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74336" y="4041648"/>
            <a:ext cx="2587751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FFDF8"/>
                </a:solidFill>
                <a:latin typeface="Malgun Gothic"/>
              </a:rPr>
              <a:t>원문으로 근거가 있는가</a:t>
            </a:r>
          </a:p>
        </p:txBody>
      </p:sp>
      <p:sp>
        <p:nvSpPr>
          <p:cNvPr id="26" name="Oval 25"/>
          <p:cNvSpPr/>
          <p:nvPr/>
        </p:nvSpPr>
        <p:spPr>
          <a:xfrm>
            <a:off x="4773168" y="4489704"/>
            <a:ext cx="100584" cy="100584"/>
          </a:xfrm>
          <a:prstGeom prst="ellipse">
            <a:avLst/>
          </a:prstGeom>
          <a:solidFill>
            <a:srgbClr val="EF7052"/>
          </a:solidFill>
          <a:ln>
            <a:solidFill>
              <a:srgbClr val="EF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74336" y="4425696"/>
            <a:ext cx="2587751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FFDF8"/>
                </a:solidFill>
                <a:latin typeface="Malgun Gothic"/>
              </a:rPr>
              <a:t>억지 지적은 아닌가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2542032"/>
            <a:ext cx="3154680" cy="2514600"/>
          </a:xfrm>
          <a:prstGeom prst="roundRect">
            <a:avLst/>
          </a:prstGeom>
          <a:solidFill>
            <a:srgbClr val="EF7052"/>
          </a:solidFill>
          <a:ln w="12700">
            <a:solidFill>
              <a:srgbClr val="EF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77072" y="2852928"/>
            <a:ext cx="2468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DF8"/>
                </a:solidFill>
                <a:latin typeface="Malgun Gothic"/>
              </a:rPr>
              <a:t>리포트의 원칙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3383280"/>
            <a:ext cx="25146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100" b="1" i="0">
                <a:solidFill>
                  <a:srgbClr val="FFFDF8"/>
                </a:solidFill>
                <a:latin typeface="Malgun Gothic"/>
              </a:rPr>
              <a:t>원문 인용 없는
지적은 쓰지 않는다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806440"/>
            <a:ext cx="65836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900" b="1" i="0">
                <a:solidFill>
                  <a:srgbClr val="1A2226"/>
                </a:solidFill>
                <a:latin typeface="Malgun Gothic"/>
              </a:rPr>
              <a:t>숫자는 단서 · 인용은 근거 · 재측정은 판정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86D5B"/>
                </a:solidFill>
                <a:latin typeface="Malgun Gothic"/>
              </a:rPr>
              <a:t>05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A2226"/>
                </a:solidFill>
                <a:latin typeface="Malgun Gothic"/>
              </a:rPr>
              <a:t>기계와 판단을 파일로 분리했습니다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84048"/>
            <a:ext cx="640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606C6C"/>
                </a:solidFill>
                <a:latin typeface="Malgun Gothic"/>
              </a:rPr>
              <a:t>05 / 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98448"/>
            <a:ext cx="11000232" cy="0"/>
          </a:xfrm>
          <a:prstGeom prst="line">
            <a:avLst/>
          </a:prstGeom>
          <a:ln w="12700">
            <a:solidFill>
              <a:srgbClr val="D7D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47104"/>
            <a:ext cx="2743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06C6C"/>
                </a:solidFill>
                <a:latin typeface="Malgun Gothic"/>
              </a:rPr>
              <a:t>TeamB · 5주차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9344"/>
            <a:ext cx="64008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606C6C"/>
                </a:solidFill>
                <a:latin typeface="Malgun Gothic"/>
              </a:rPr>
              <a:t>자동화할 수 있는 사실과, 사람이 읽어야 하는 해석의 경계를 분명히 둡니다.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40280"/>
            <a:ext cx="3063240" cy="217627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2468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A2226"/>
                </a:solidFill>
                <a:latin typeface="Malgun Gothic"/>
              </a:rPr>
              <a:t>~/.claude/projects/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54680"/>
            <a:ext cx="246888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606C6C"/>
                </a:solidFill>
                <a:latin typeface="Malgun Gothic"/>
              </a:rPr>
              <a:t>세션 로그 · JSONL
AI 응답 · 도구 결과 · 이미지 포함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240280"/>
            <a:ext cx="3063240" cy="2176272"/>
          </a:xfrm>
          <a:prstGeom prst="roundRect">
            <a:avLst/>
          </a:prstGeom>
          <a:solidFill>
            <a:srgbClr val="186D5B"/>
          </a:solidFill>
          <a:ln w="12700">
            <a:solidFill>
              <a:srgbClr val="186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0600" y="2606040"/>
            <a:ext cx="2468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FFDF8"/>
                </a:solidFill>
                <a:latin typeface="Malgun Gothic"/>
              </a:rPr>
              <a:t>extract_prompts.py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154680"/>
            <a:ext cx="246888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FFDF8"/>
                </a:solidFill>
                <a:latin typeface="Malgun Gothic"/>
              </a:rPr>
              <a:t>찾고 · 거르고 · 센다
사람이 친 프롬프트만 추출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2240280"/>
            <a:ext cx="3063240" cy="2176272"/>
          </a:xfrm>
          <a:prstGeom prst="roundRect">
            <a:avLst/>
          </a:prstGeom>
          <a:solidFill>
            <a:srgbClr val="1A2226"/>
          </a:solidFill>
          <a:ln w="12700">
            <a:solidFill>
              <a:srgbClr val="1A2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41080" y="2606040"/>
            <a:ext cx="2468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4C74B"/>
                </a:solidFill>
                <a:latin typeface="Malgun Gothic"/>
              </a:rPr>
              <a:t>SKILL.md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3154680"/>
            <a:ext cx="246888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FFDF8"/>
                </a:solidFill>
                <a:latin typeface="Malgun Gothic"/>
              </a:rPr>
              <a:t>읽고 · 판단하고 · 쓴다
근거 있는 개선 리포트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49039" y="3328416"/>
            <a:ext cx="749809" cy="0"/>
          </a:xfrm>
          <a:prstGeom prst="line">
            <a:avLst/>
          </a:prstGeom>
          <a:ln w="38100">
            <a:solidFill>
              <a:srgbClr val="3EA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589520" y="3328416"/>
            <a:ext cx="749807" cy="0"/>
          </a:xfrm>
          <a:prstGeom prst="line">
            <a:avLst/>
          </a:prstGeom>
          <a:ln w="38100">
            <a:solidFill>
              <a:srgbClr val="EF7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508760" y="4983480"/>
            <a:ext cx="14630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606C6C"/>
                </a:solidFill>
                <a:latin typeface="Malgun Gothic"/>
              </a:rPr>
              <a:t>10MB+ 로그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7" y="4919472"/>
            <a:ext cx="457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200" b="1" i="0">
                <a:solidFill>
                  <a:srgbClr val="186D5B"/>
                </a:solidFill>
                <a:latin typeface="Malgun Gothic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4983480"/>
            <a:ext cx="1920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186D5B"/>
                </a:solidFill>
                <a:latin typeface="Malgun Gothic"/>
              </a:rPr>
              <a:t>7KB 다이제스트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2672" y="4919472"/>
            <a:ext cx="457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200" b="1" i="0">
                <a:solidFill>
                  <a:srgbClr val="EF7052"/>
                </a:solidFill>
                <a:latin typeface="Malgun Gothic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4983480"/>
            <a:ext cx="2468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1A2226"/>
                </a:solidFill>
                <a:latin typeface="Malgun Gothic"/>
              </a:rPr>
              <a:t>~/Downloads/ 개선점.md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86D5B"/>
                </a:solidFill>
                <a:latin typeface="Malgun Gothic"/>
              </a:rPr>
              <a:t>06 /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A2226"/>
                </a:solidFill>
                <a:latin typeface="Malgun Gothic"/>
              </a:rPr>
              <a:t>한 줄 명령으로 선택부터 리포트까지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84048"/>
            <a:ext cx="640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606C6C"/>
                </a:solidFill>
                <a:latin typeface="Malgun Gothic"/>
              </a:rPr>
              <a:t>05 / 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98448"/>
            <a:ext cx="11000232" cy="0"/>
          </a:xfrm>
          <a:prstGeom prst="line">
            <a:avLst/>
          </a:prstGeom>
          <a:ln w="12700">
            <a:solidFill>
              <a:srgbClr val="D7D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47104"/>
            <a:ext cx="2743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06C6C"/>
                </a:solidFill>
                <a:latin typeface="Malgun Gothic"/>
              </a:rPr>
              <a:t>TeamB · 5주차</a:t>
            </a:r>
          </a:p>
        </p:txBody>
      </p:sp>
      <p:sp>
        <p:nvSpPr>
          <p:cNvPr id="7" name="Oval 6"/>
          <p:cNvSpPr/>
          <p:nvPr/>
        </p:nvSpPr>
        <p:spPr>
          <a:xfrm>
            <a:off x="1536192" y="1856231"/>
            <a:ext cx="749808" cy="749808"/>
          </a:xfrm>
          <a:prstGeom prst="ellipse">
            <a:avLst/>
          </a:prstGeom>
          <a:solidFill>
            <a:srgbClr val="3EAE97"/>
          </a:solidFill>
          <a:ln>
            <a:solidFill>
              <a:srgbClr val="3EA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36192" y="1976201"/>
            <a:ext cx="749808" cy="41239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700" b="1" i="0">
                <a:solidFill>
                  <a:srgbClr val="FFFDF8"/>
                </a:solidFill>
                <a:latin typeface="Malgun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3774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A2226"/>
                </a:solidFill>
                <a:latin typeface="Malgun Gothic"/>
              </a:rPr>
              <a:t>선택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64992"/>
            <a:ext cx="21945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0" i="0">
                <a:solidFill>
                  <a:srgbClr val="606C6C"/>
                </a:solidFill>
                <a:latin typeface="Malgun Gothic"/>
              </a:rPr>
              <a:t>가장 큰 세션
하나 고르기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0" y="2231136"/>
            <a:ext cx="731520" cy="0"/>
          </a:xfrm>
          <a:prstGeom prst="line">
            <a:avLst/>
          </a:prstGeom>
          <a:ln w="25400">
            <a:solidFill>
              <a:srgbClr val="D7D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325112" y="1856231"/>
            <a:ext cx="749808" cy="749808"/>
          </a:xfrm>
          <a:prstGeom prst="ellipse">
            <a:avLst/>
          </a:prstGeom>
          <a:solidFill>
            <a:srgbClr val="EF7052"/>
          </a:solidFill>
          <a:ln>
            <a:solidFill>
              <a:srgbClr val="EF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25112" y="1976201"/>
            <a:ext cx="749808" cy="41239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700" b="1" i="0">
                <a:solidFill>
                  <a:srgbClr val="FFFDF8"/>
                </a:solidFill>
                <a:latin typeface="Malgun 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39" y="2834640"/>
            <a:ext cx="23774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A2226"/>
                </a:solidFill>
                <a:latin typeface="Malgun Gothic"/>
              </a:rPr>
              <a:t>추출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79" y="3364992"/>
            <a:ext cx="21945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0" i="0">
                <a:solidFill>
                  <a:srgbClr val="606C6C"/>
                </a:solidFill>
                <a:latin typeface="Malgun Gothic"/>
              </a:rPr>
              <a:t>사람이 친 것만
남기기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32120" y="2231136"/>
            <a:ext cx="731520" cy="0"/>
          </a:xfrm>
          <a:prstGeom prst="line">
            <a:avLst/>
          </a:prstGeom>
          <a:ln w="25400">
            <a:solidFill>
              <a:srgbClr val="D7D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114031" y="1856231"/>
            <a:ext cx="749808" cy="749808"/>
          </a:xfrm>
          <a:prstGeom prst="ellipse">
            <a:avLst/>
          </a:prstGeom>
          <a:solidFill>
            <a:srgbClr val="F4C74B"/>
          </a:solidFill>
          <a:ln>
            <a:solidFill>
              <a:srgbClr val="F4C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14031" y="1976201"/>
            <a:ext cx="749808" cy="41239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700" b="1" i="0">
                <a:solidFill>
                  <a:srgbClr val="1A2226"/>
                </a:solidFill>
                <a:latin typeface="Malgun Gothi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834640"/>
            <a:ext cx="23774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A2226"/>
                </a:solidFill>
                <a:latin typeface="Malgun Gothic"/>
              </a:rPr>
              <a:t>분석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799" y="3364992"/>
            <a:ext cx="21945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0" i="0">
                <a:solidFill>
                  <a:srgbClr val="606C6C"/>
                </a:solidFill>
                <a:latin typeface="Malgun Gothic"/>
              </a:rPr>
              <a:t>재작업 사슬과
원문 읽기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21040" y="2231136"/>
            <a:ext cx="731519" cy="0"/>
          </a:xfrm>
          <a:prstGeom prst="line">
            <a:avLst/>
          </a:prstGeom>
          <a:ln w="25400">
            <a:solidFill>
              <a:srgbClr val="D7D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902952" y="1856231"/>
            <a:ext cx="749808" cy="749808"/>
          </a:xfrm>
          <a:prstGeom prst="ellipse">
            <a:avLst/>
          </a:prstGeom>
          <a:solidFill>
            <a:srgbClr val="638EBA"/>
          </a:solidFill>
          <a:ln>
            <a:solidFill>
              <a:srgbClr val="638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02952" y="1976201"/>
            <a:ext cx="749808" cy="41239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700" b="1" i="0">
                <a:solidFill>
                  <a:srgbClr val="FFFDF8"/>
                </a:solidFill>
                <a:latin typeface="Malgun Gothic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834640"/>
            <a:ext cx="23774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A2226"/>
                </a:solidFill>
                <a:latin typeface="Malgun Gothic"/>
              </a:rPr>
              <a:t>활용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19" y="3364992"/>
            <a:ext cx="21945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0" i="0">
                <a:solidFill>
                  <a:srgbClr val="606C6C"/>
                </a:solidFill>
                <a:latin typeface="Malgun Gothic"/>
              </a:rPr>
              <a:t>다음 세션에서
다시 재기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663440"/>
            <a:ext cx="10652760" cy="804672"/>
          </a:xfrm>
          <a:prstGeom prst="roundRect">
            <a:avLst/>
          </a:prstGeom>
          <a:solidFill>
            <a:srgbClr val="1A2226"/>
          </a:solidFill>
          <a:ln w="12700">
            <a:solidFill>
              <a:srgbClr val="1A2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43000" y="4901184"/>
            <a:ext cx="28346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F4C74B"/>
                </a:solidFill>
                <a:latin typeface="Malgun Gothic"/>
              </a:rPr>
              <a:t>/prompt-review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4928616"/>
            <a:ext cx="699516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FFDF8"/>
                </a:solidFill>
                <a:latin typeface="Malgun Gothic"/>
              </a:rPr>
              <a:t>입력: 없음  ·  기본값: 가장 큰 세션  ·  출력: 로컬 개선 리포트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943600"/>
            <a:ext cx="92354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EF7052"/>
                </a:solidFill>
                <a:latin typeface="Malgun Gothic"/>
              </a:rPr>
              <a:t>표본 부족 또는 되돌아간 곳이 없으면, 리포트를 억지로 만들지 않고 멈춥니다.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86D5B"/>
                </a:solidFill>
                <a:latin typeface="Malgun Gothic"/>
              </a:rPr>
              <a:t>07 /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A2226"/>
                </a:solidFill>
                <a:latin typeface="Malgun Gothic"/>
              </a:rPr>
              <a:t>시연: ‘고쳐줘’가 왜 다시 돌아왔는지 찾기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84048"/>
            <a:ext cx="640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606C6C"/>
                </a:solidFill>
                <a:latin typeface="Malgun Gothic"/>
              </a:rPr>
              <a:t>05 / 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98448"/>
            <a:ext cx="11000232" cy="0"/>
          </a:xfrm>
          <a:prstGeom prst="line">
            <a:avLst/>
          </a:prstGeom>
          <a:ln w="12700">
            <a:solidFill>
              <a:srgbClr val="D7D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47104"/>
            <a:ext cx="2743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06C6C"/>
                </a:solidFill>
                <a:latin typeface="Malgun Gothic"/>
              </a:rPr>
              <a:t>TeamB · 5주차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73352"/>
            <a:ext cx="4937760" cy="4251960"/>
          </a:xfrm>
          <a:prstGeom prst="roundRect">
            <a:avLst/>
          </a:prstGeom>
          <a:solidFill>
            <a:srgbClr val="1A2226"/>
          </a:solidFill>
          <a:ln w="12700">
            <a:solidFill>
              <a:srgbClr val="1A2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1645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3EAE97"/>
                </a:solidFill>
                <a:latin typeface="Malgun Gothic"/>
              </a:rPr>
              <a:t>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59152"/>
            <a:ext cx="4114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FFFDF8"/>
                </a:solidFill>
                <a:latin typeface="Malgun Gothic"/>
              </a:rPr>
              <a:t>&gt; /prompt-review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4251960" cy="1554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FFDF8"/>
                </a:solidFill>
                <a:latin typeface="Malgun Gothic"/>
              </a:rPr>
              <a:t>세션 3개 발견
가장 큰 세션 선택: Zeteo / 10.9 MB
프롬프트 47개 추출
리포트 저장 완료
~/Downloads/Zeteo_5b624f99_개선점.md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919472"/>
            <a:ext cx="1188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4C74B"/>
                </a:solidFill>
                <a:latin typeface="Malgun Gothic"/>
              </a:rPr>
              <a:t>한 줄 요약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193792"/>
            <a:ext cx="42062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FFDF8"/>
                </a:solidFill>
                <a:latin typeface="Malgun Gothic"/>
              </a:rPr>
              <a:t>지시는 정확한데 성공 기준이 없어
세 번 되돌아갔습니다.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673352"/>
            <a:ext cx="5230368" cy="42519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1993392"/>
            <a:ext cx="3383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86D5B"/>
                </a:solidFill>
                <a:latin typeface="Malgun Gothic"/>
              </a:rPr>
              <a:t>리포트에서 발견한 패턴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468880"/>
            <a:ext cx="4114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1A2226"/>
                </a:solidFill>
                <a:latin typeface="Malgun Gothic"/>
              </a:rPr>
              <a:t>성공 기준 부재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3063240"/>
            <a:ext cx="41148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EF7052"/>
                </a:solidFill>
                <a:latin typeface="Malgun Gothic"/>
              </a:rPr>
              <a:t>“이거 좀 고쳐줘”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73952" y="3529584"/>
            <a:ext cx="4361688" cy="0"/>
          </a:xfrm>
          <a:prstGeom prst="line">
            <a:avLst/>
          </a:prstGeom>
          <a:ln w="12700">
            <a:solidFill>
              <a:srgbClr val="D7D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73952" y="3840480"/>
            <a:ext cx="2011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86D5B"/>
                </a:solidFill>
                <a:latin typeface="Malgun Gothic"/>
              </a:rPr>
              <a:t>이렇게 썼다면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251960"/>
            <a:ext cx="4434840" cy="749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A2226"/>
                </a:solidFill>
                <a:latin typeface="Malgun Gothic"/>
              </a:rPr>
              <a:t>“재연결 시 타이머가 어긋나는 걸 고쳐줘.
고친 뒤 방 두 개를 동시에 돌려서 시간이 맞는지 확인해줘.”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5358384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06C6C"/>
                </a:solidFill>
                <a:latin typeface="Malgun Gothic"/>
              </a:rPr>
              <a:t>시연 포인트: 숫자는 단서, 원문과 재작업 흐름이 근거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86D5B"/>
                </a:solidFill>
                <a:latin typeface="Malgun Gothic"/>
              </a:rPr>
              <a:t>08 / VIDEO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A2226"/>
                </a:solidFill>
                <a:latin typeface="Malgun Gothic"/>
              </a:rPr>
              <a:t>시연 영상: 한 바퀴가 닫히는 순간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84048"/>
            <a:ext cx="640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606C6C"/>
                </a:solidFill>
                <a:latin typeface="Malgun Gothic"/>
              </a:rPr>
              <a:t>05 / 09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98448"/>
            <a:ext cx="11000232" cy="0"/>
          </a:xfrm>
          <a:prstGeom prst="line">
            <a:avLst/>
          </a:prstGeom>
          <a:ln w="12700">
            <a:solidFill>
              <a:srgbClr val="D7D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47104"/>
            <a:ext cx="2743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06C6C"/>
                </a:solidFill>
                <a:latin typeface="Malgun Gothic"/>
              </a:rPr>
              <a:t>TeamB · 5주차 · 시연 영상 삽입용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6812280" cy="4480560"/>
          </a:xfrm>
          <a:prstGeom prst="roundRect">
            <a:avLst/>
          </a:prstGeom>
          <a:solidFill>
            <a:srgbClr val="1A2226"/>
          </a:solidFill>
          <a:ln w="12700">
            <a:solidFill>
              <a:srgbClr val="1A2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429000" y="2743200"/>
            <a:ext cx="1261872" cy="1261872"/>
          </a:xfrm>
          <a:prstGeom prst="ellipse">
            <a:avLst/>
          </a:prstGeom>
          <a:solidFill>
            <a:srgbClr val="EF7052"/>
          </a:solidFill>
          <a:ln>
            <a:solidFill>
              <a:srgbClr val="EF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29000" y="2945099"/>
            <a:ext cx="1261872" cy="69402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700" b="1" i="0">
                <a:solidFill>
                  <a:srgbClr val="FFFDF8"/>
                </a:solidFill>
                <a:latin typeface="Malgun Gothic"/>
              </a:rPr>
              <a:t>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4251960"/>
            <a:ext cx="42062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FFFDF8"/>
                </a:solidFill>
                <a:latin typeface="Malgun Gothic"/>
              </a:rPr>
              <a:t>시연 영상 삽입 영역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4773168"/>
            <a:ext cx="4206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BEC6C0"/>
                </a:solidFill>
                <a:latin typeface="Malgun Gothic"/>
              </a:rPr>
              <a:t>녹화 후 이 영역에 영상 또는 링크를 삽입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664208"/>
            <a:ext cx="3456432" cy="44805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1993392"/>
            <a:ext cx="23774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86D5B"/>
                </a:solidFill>
                <a:latin typeface="Malgun Gothic"/>
              </a:rPr>
              <a:t>영상 구성</a:t>
            </a:r>
          </a:p>
        </p:txBody>
      </p:sp>
      <p:sp>
        <p:nvSpPr>
          <p:cNvPr id="14" name="Oval 13"/>
          <p:cNvSpPr/>
          <p:nvPr/>
        </p:nvSpPr>
        <p:spPr>
          <a:xfrm>
            <a:off x="8247888" y="2487168"/>
            <a:ext cx="292608" cy="292608"/>
          </a:xfrm>
          <a:prstGeom prst="ellipse">
            <a:avLst/>
          </a:prstGeom>
          <a:solidFill>
            <a:srgbClr val="3EAE97"/>
          </a:solidFill>
          <a:ln>
            <a:solidFill>
              <a:srgbClr val="3EA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2533985"/>
            <a:ext cx="292608" cy="16093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FFDF8"/>
                </a:solidFill>
                <a:latin typeface="Malgun Gothic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496312"/>
            <a:ext cx="21488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A2226"/>
                </a:solidFill>
                <a:latin typeface="Malgun Gothic"/>
              </a:rPr>
              <a:t>/prompt-review 실행</a:t>
            </a:r>
          </a:p>
        </p:txBody>
      </p:sp>
      <p:sp>
        <p:nvSpPr>
          <p:cNvPr id="17" name="Oval 16"/>
          <p:cNvSpPr/>
          <p:nvPr/>
        </p:nvSpPr>
        <p:spPr>
          <a:xfrm>
            <a:off x="8247888" y="3054096"/>
            <a:ext cx="292608" cy="292608"/>
          </a:xfrm>
          <a:prstGeom prst="ellipse">
            <a:avLst/>
          </a:prstGeom>
          <a:solidFill>
            <a:srgbClr val="3EAE97"/>
          </a:solidFill>
          <a:ln>
            <a:solidFill>
              <a:srgbClr val="3EA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3100913"/>
            <a:ext cx="292608" cy="16093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FFDF8"/>
                </a:solidFill>
                <a:latin typeface="Malgun Gothic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3063240"/>
            <a:ext cx="21488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A2226"/>
                </a:solidFill>
                <a:latin typeface="Malgun Gothic"/>
              </a:rPr>
              <a:t>로그 선택·프롬프트 추출</a:t>
            </a:r>
          </a:p>
        </p:txBody>
      </p:sp>
      <p:sp>
        <p:nvSpPr>
          <p:cNvPr id="20" name="Oval 19"/>
          <p:cNvSpPr/>
          <p:nvPr/>
        </p:nvSpPr>
        <p:spPr>
          <a:xfrm>
            <a:off x="8247888" y="3621024"/>
            <a:ext cx="292608" cy="292608"/>
          </a:xfrm>
          <a:prstGeom prst="ellipse">
            <a:avLst/>
          </a:prstGeom>
          <a:solidFill>
            <a:srgbClr val="3EAE97"/>
          </a:solidFill>
          <a:ln>
            <a:solidFill>
              <a:srgbClr val="3EA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47888" y="3667841"/>
            <a:ext cx="292608" cy="16093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FFDF8"/>
                </a:solidFill>
                <a:latin typeface="Malgun Gothi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630168"/>
            <a:ext cx="21488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A2226"/>
                </a:solidFill>
                <a:latin typeface="Malgun Gothic"/>
              </a:rPr>
              <a:t>재작업 사슬 분석</a:t>
            </a:r>
          </a:p>
        </p:txBody>
      </p:sp>
      <p:sp>
        <p:nvSpPr>
          <p:cNvPr id="23" name="Oval 22"/>
          <p:cNvSpPr/>
          <p:nvPr/>
        </p:nvSpPr>
        <p:spPr>
          <a:xfrm>
            <a:off x="8247888" y="4187952"/>
            <a:ext cx="292608" cy="292608"/>
          </a:xfrm>
          <a:prstGeom prst="ellipse">
            <a:avLst/>
          </a:prstGeom>
          <a:solidFill>
            <a:srgbClr val="3EAE97"/>
          </a:solidFill>
          <a:ln>
            <a:solidFill>
              <a:srgbClr val="3EA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47888" y="4234769"/>
            <a:ext cx="292608" cy="16093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FFDF8"/>
                </a:solidFill>
                <a:latin typeface="Malgun Gothic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4197096"/>
            <a:ext cx="21488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A2226"/>
                </a:solidFill>
                <a:latin typeface="Malgun Gothic"/>
              </a:rPr>
              <a:t>개선 리포트 확인</a:t>
            </a:r>
          </a:p>
        </p:txBody>
      </p:sp>
      <p:sp>
        <p:nvSpPr>
          <p:cNvPr id="26" name="Oval 25"/>
          <p:cNvSpPr/>
          <p:nvPr/>
        </p:nvSpPr>
        <p:spPr>
          <a:xfrm>
            <a:off x="8247888" y="4754880"/>
            <a:ext cx="292608" cy="292608"/>
          </a:xfrm>
          <a:prstGeom prst="ellipse">
            <a:avLst/>
          </a:prstGeom>
          <a:solidFill>
            <a:srgbClr val="EF7052"/>
          </a:solidFill>
          <a:ln>
            <a:solidFill>
              <a:srgbClr val="EF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47888" y="4801697"/>
            <a:ext cx="292608" cy="16093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FFDF8"/>
                </a:solidFill>
                <a:latin typeface="Malgun Gothic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4764024"/>
            <a:ext cx="21488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A2226"/>
                </a:solidFill>
                <a:latin typeface="Malgun Gothic"/>
              </a:rPr>
              <a:t>다음 세션에서 재측정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5577840"/>
            <a:ext cx="2468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EF7052"/>
                </a:solidFill>
                <a:latin typeface="Malgun Gothic"/>
              </a:rPr>
              <a:t>권장 길이 2~3분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86D5B"/>
                </a:solidFill>
                <a:latin typeface="Malgun Gothic"/>
              </a:rPr>
              <a:t>09 /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A2226"/>
                </a:solidFill>
                <a:latin typeface="Malgun Gothic"/>
              </a:rPr>
              <a:t>개인 교정으로 시작해, 팀 규칙으로 끝납니다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84048"/>
            <a:ext cx="640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606C6C"/>
                </a:solidFill>
                <a:latin typeface="Malgun Gothic"/>
              </a:rPr>
              <a:t>05 / 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98448"/>
            <a:ext cx="11000232" cy="0"/>
          </a:xfrm>
          <a:prstGeom prst="line">
            <a:avLst/>
          </a:prstGeom>
          <a:ln w="12700">
            <a:solidFill>
              <a:srgbClr val="D7D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47104"/>
            <a:ext cx="2743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06C6C"/>
                </a:solidFill>
                <a:latin typeface="Malgun Gothic"/>
              </a:rPr>
              <a:t>TeamB · 5주차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67665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1A2226"/>
                </a:solidFill>
                <a:latin typeface="Malgun Gothic"/>
              </a:rPr>
              <a:t>넷이 같은 패턴을 발견하면 사람보다 환경을 먼저 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94560"/>
            <a:ext cx="4892040" cy="26060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542032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86D5B"/>
                </a:solidFill>
                <a:latin typeface="Malgun Gothic"/>
              </a:rPr>
              <a:t>개인 리포트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63240"/>
            <a:ext cx="4114800" cy="11155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1A2226"/>
                </a:solidFill>
                <a:latin typeface="Malgun Gothic"/>
              </a:rPr>
              <a:t>민성  대상 파일을 안 적음
정현  ‘아까 그 파일’이라고 함
현우  ‘그 화면’이라고 함
박진  해당 없음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94560"/>
            <a:ext cx="4892040" cy="2606040"/>
          </a:xfrm>
          <a:prstGeom prst="roundRect">
            <a:avLst/>
          </a:prstGeom>
          <a:solidFill>
            <a:srgbClr val="EF7052"/>
          </a:solidFill>
          <a:ln w="12700">
            <a:solidFill>
              <a:srgbClr val="EF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0840" y="2542032"/>
            <a:ext cx="3200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DF8"/>
                </a:solidFill>
                <a:latin typeface="Malgun Gothic"/>
              </a:rPr>
              <a:t>3명에게서 같은 패턴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114800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FFFDF8"/>
                </a:solidFill>
                <a:latin typeface="Malgun Gothic"/>
              </a:rPr>
              <a:t>개인의 말버릇인가?
→ 파일이 많고 이름이 비슷한
프로젝트 구조 문제일 수 있다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23560" y="3493008"/>
            <a:ext cx="704088" cy="0"/>
          </a:xfrm>
          <a:prstGeom prst="line">
            <a:avLst/>
          </a:prstGeom>
          <a:ln w="38100">
            <a:solidFill>
              <a:srgbClr val="186D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5394960"/>
            <a:ext cx="1828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86D5B"/>
                </a:solidFill>
                <a:latin typeface="Malgun Gothic"/>
              </a:rPr>
              <a:t>팀의 다음 액션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5394960"/>
            <a:ext cx="8686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A2226"/>
                </a:solidFill>
                <a:latin typeface="Malgun Gothic"/>
              </a:rPr>
              <a:t>경로를 붙여넣기 쉬운 파일트리로 정리하고, 다음 세션에서 되돌림 횟수를 다시 잽니다.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86D5B"/>
                </a:solidFill>
                <a:latin typeface="Malgun Gothic"/>
              </a:rPr>
              <a:t>10 /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A2226"/>
                </a:solidFill>
                <a:latin typeface="Malgun Gothic"/>
              </a:rPr>
              <a:t>알게 된 점: 좋은 시스템은 ‘하지 않음’도 판단합니다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84048"/>
            <a:ext cx="640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606C6C"/>
                </a:solidFill>
                <a:latin typeface="Malgun Gothic"/>
              </a:rPr>
              <a:t>05 / 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298448"/>
            <a:ext cx="11000232" cy="0"/>
          </a:xfrm>
          <a:prstGeom prst="line">
            <a:avLst/>
          </a:prstGeom>
          <a:ln w="12700">
            <a:solidFill>
              <a:srgbClr val="D7D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47104"/>
            <a:ext cx="2743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06C6C"/>
                </a:solidFill>
                <a:latin typeface="Malgun Gothic"/>
              </a:rPr>
              <a:t>TeamB · 5주차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3429000" cy="3611880"/>
          </a:xfrm>
          <a:prstGeom prst="roundRect">
            <a:avLst/>
          </a:prstGeom>
          <a:solidFill>
            <a:srgbClr val="186D5B"/>
          </a:solidFill>
          <a:ln w="12700">
            <a:solidFill>
              <a:srgbClr val="186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057400"/>
            <a:ext cx="7315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4C74B"/>
                </a:solidFill>
                <a:latin typeface="Malgun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651760"/>
            <a:ext cx="265176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FFDF8"/>
                </a:solidFill>
                <a:latin typeface="Malgun Gothic"/>
              </a:rPr>
              <a:t>근거 없는
지적은 만들지 않는다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069080"/>
            <a:ext cx="256032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FFDF8"/>
                </a:solidFill>
                <a:latin typeface="Malgun Gothic"/>
              </a:rPr>
              <a:t>원문 인용이 없으면
패턴으로 쓰지 않습니다.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91640"/>
            <a:ext cx="3429000" cy="3611880"/>
          </a:xfrm>
          <a:prstGeom prst="roundRect">
            <a:avLst/>
          </a:prstGeom>
          <a:solidFill>
            <a:srgbClr val="EF7052"/>
          </a:solidFill>
          <a:ln w="12700">
            <a:solidFill>
              <a:srgbClr val="EF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18304" y="2057400"/>
            <a:ext cx="7315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FFDF8"/>
                </a:solidFill>
                <a:latin typeface="Malgun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8304" y="2651760"/>
            <a:ext cx="265176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FFDF8"/>
                </a:solidFill>
                <a:latin typeface="Malgun Gothic"/>
              </a:rPr>
              <a:t>개인 리포트는
개인이 선택한다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8304" y="4069080"/>
            <a:ext cx="26517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FFDF8"/>
                </a:solidFill>
                <a:latin typeface="Malgun Gothic"/>
              </a:rPr>
              <a:t>신뢰가 있어야
시스템을 계속 돌릴 수 있습니다.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691640"/>
            <a:ext cx="3429000" cy="3611880"/>
          </a:xfrm>
          <a:prstGeom prst="roundRect">
            <a:avLst/>
          </a:prstGeom>
          <a:solidFill>
            <a:srgbClr val="F4C74B"/>
          </a:solidFill>
          <a:ln w="12700">
            <a:solidFill>
              <a:srgbClr val="F4C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49056" y="2057400"/>
            <a:ext cx="7315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A2226"/>
                </a:solidFill>
                <a:latin typeface="Malgun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651760"/>
            <a:ext cx="265176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1A2226"/>
                </a:solidFill>
                <a:latin typeface="Malgun Gothic"/>
              </a:rPr>
              <a:t>읽고 끝내지 말고
다시 측정한다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4069080"/>
            <a:ext cx="26517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1A2226"/>
                </a:solidFill>
                <a:latin typeface="Malgun Gothic"/>
              </a:rPr>
              <a:t>조언의 효과는
다음 세션에서 확인합니다.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897880"/>
            <a:ext cx="98755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200" b="1" i="0">
                <a:solidFill>
                  <a:srgbClr val="1A2226"/>
                </a:solidFill>
                <a:latin typeface="Malgun Gothic"/>
              </a:rPr>
              <a:t>숫자는 단서고, 인용이 근거고, 재측정이 판정이다.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777240"/>
            <a:ext cx="3200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3EAE97"/>
                </a:solidFill>
                <a:latin typeface="Malgun Gothic"/>
              </a:rPr>
              <a:t>TEAM B  /  WEEK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600200"/>
            <a:ext cx="6675120" cy="1965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900" b="1" i="0">
                <a:solidFill>
                  <a:srgbClr val="FFFDF8"/>
                </a:solidFill>
                <a:latin typeface="Malgun Gothic"/>
              </a:rPr>
              <a:t>우리는 이제
결과뿐 아니라
지시문도 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4828032"/>
            <a:ext cx="26517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4C74B"/>
                </a:solidFill>
                <a:latin typeface="Malgun Gothic"/>
              </a:rPr>
              <a:t>/prompt-review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5321808"/>
            <a:ext cx="512064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CDD6CF"/>
                </a:solidFill>
                <a:latin typeface="Malgun Gothic"/>
              </a:rPr>
              <a:t>내가 AI와 일하는 방식을,
내 로그에서 직접 확인하는 방법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53312"/>
            <a:ext cx="3063240" cy="3611880"/>
          </a:xfrm>
          <a:prstGeom prst="roundRect">
            <a:avLst/>
          </a:prstGeom>
          <a:solidFill>
            <a:srgbClr val="2A393B"/>
          </a:solidFill>
          <a:ln w="12700">
            <a:solidFill>
              <a:srgbClr val="485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94192" y="1828800"/>
            <a:ext cx="23774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3EAE97"/>
                </a:solidFill>
                <a:latin typeface="Malgun Gothic"/>
              </a:rPr>
              <a:t>발표 후 기억할 한 문장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9327" y="2514600"/>
            <a:ext cx="2468880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400" b="1" i="0">
                <a:solidFill>
                  <a:srgbClr val="FFFDF8"/>
                </a:solidFill>
                <a:latin typeface="Malgun Gothic"/>
              </a:rPr>
              <a:t>같은 결과를
더 적은 왕복으로
얻는 지시문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6263640"/>
            <a:ext cx="2011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3EAE97"/>
                </a:solidFill>
                <a:latin typeface="Malgun Gothic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625</Words>
  <Application>Microsoft Office PowerPoint</Application>
  <PresentationFormat>와이드스크린</PresentationFormat>
  <Paragraphs>180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유민성</cp:lastModifiedBy>
  <cp:revision>2</cp:revision>
  <dcterms:created xsi:type="dcterms:W3CDTF">2013-01-27T09:14:16Z</dcterms:created>
  <dcterms:modified xsi:type="dcterms:W3CDTF">2026-08-28T01:58:11Z</dcterms:modified>
  <cp:category/>
</cp:coreProperties>
</file>