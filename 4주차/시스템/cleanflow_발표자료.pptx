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Noto Sans KR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9" roundtripDataSignature="AMtx7mipz4PEjRz7ooG5nqtH4rsMVYZv1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NotoSansKR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font" Target="fonts/NotoSansKR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TeamB 넷은 각자 다른 파트를 맡아 다른 스타일로 코드를 씁니다. 서로의 코드를 공부할 때 최대한 이해할 수 있도록, 확인 가능한 체크리스트를 먼저 만들었습니다. </a:t>
            </a:r>
            <a:br>
              <a:rPr lang="ko-KR"/>
            </a:br>
            <a:r>
              <a:rPr lang="ko-KR"/>
              <a:t>네 명이 각자 다른 파트(서버·DB · 봇 · 게임 화면 · 공통 화면)를 맡아, 각자의 스타일로 코드를 씁니다. 서로의 코드를 읽어야 할 때 이해하는 데 시간이 걸립니다. </a:t>
            </a:r>
            <a:br>
              <a:rPr lang="ko-KR"/>
            </a:br>
            <a:r>
              <a:rPr lang="ko-KR"/>
              <a:t>'좋은 코드'라는 감이 아니라, 사람 하나를 앉혀놓고 시켜보면 답이 나오는 질문 4가지로 판정 기준을 먼저 만들었습니다. </a:t>
            </a:r>
            <a:br>
              <a:rPr lang="ko-KR"/>
            </a:br>
            <a:r>
              <a:rPr lang="ko-KR"/>
              <a:t>이 체크리스트를 만족하도록 코드를 정리하는 것 — 그것이 cleanflow가 클린 코드를 적용하는 기준입니다.</a:t>
            </a:r>
            <a:endParaRPr/>
          </a:p>
        </p:txBody>
      </p:sp>
      <p:sp>
        <p:nvSpPr>
          <p:cNvPr id="112" name="Google Shape;11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체크리스트를 만족시키되, 실제 로직에는 손대지 않는 것이 원칙입니다. </a:t>
            </a:r>
            <a:br>
              <a:rPr lang="ko-KR"/>
            </a:br>
            <a:r>
              <a:rPr lang="ko-KR"/>
              <a:t>① 함수 본문(로직)은 한 글자도 바꾸지 않습니다. 바뀌는 것은 오직 주석과 위치뿐입니다. </a:t>
            </a:r>
            <a:br>
              <a:rPr lang="ko-KR"/>
            </a:br>
            <a:r>
              <a:rPr lang="ko-KR"/>
              <a:t>② 흩어져 있던 관련 함수·상수를 찾아, 하나의 구역으로 재배치합니다. </a:t>
            </a:r>
            <a:br>
              <a:rPr lang="ko-KR"/>
            </a:br>
            <a:r>
              <a:rPr lang="ko-KR"/>
              <a:t>③ 구역이 바뀌는 지점마다 구분 주석을 남겨, 다음 사람이 흐름을 한눈에 알 수 있게 합니다.</a:t>
            </a:r>
            <a:endParaRPr/>
          </a:p>
        </p:txBody>
      </p:sp>
      <p:sp>
        <p:nvSpPr>
          <p:cNvPr id="135" name="Google Shape;13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'좋은 코드', '유지보수하기 쉬운 코드'는 판정할 방법이 없다. 이 정의는 사람 하나를 앉혀놓고 시켜보면 바로 답이 나온다 — 확인 가능하다는 것이 이 정의를 고른 이유다. </a:t>
            </a:r>
            <a:br>
              <a:rPr lang="ko-KR"/>
            </a:br>
            <a:r>
              <a:rPr lang="ko-KR"/>
              <a:t>① 순서가 흐름을 따를 것 — 읽다가 되돌아가지 않아도 된다(배치의 문제). </a:t>
            </a:r>
            <a:br>
              <a:rPr lang="ko-KR"/>
            </a:br>
            <a:r>
              <a:rPr lang="ko-KR"/>
              <a:t>② 흐름만으로 알 수 없는 것이 적혀 있을 것 — 왜 이 방식인지(주석의 문제). </a:t>
            </a:r>
            <a:br>
              <a:rPr lang="ko-KR"/>
            </a:br>
            <a:r>
              <a:rPr lang="ko-KR"/>
              <a:t>둘은 한 몸이다. ①은 한 번 정리하면 끝나지만 규칙이 눈에 안 보이면 다음 사람이 또 끝에 붙인다. ②의 구분선이 ①을 눈에 보이게 고정해서 그걸 막는다.</a:t>
            </a:r>
            <a:endParaRPr/>
          </a:p>
        </p:txBody>
      </p:sp>
      <p:sp>
        <p:nvSpPr>
          <p:cNvPr id="171" name="Google Shape;17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디스코드에 파일 경로 한 줄 → cleanflow가 정의·기획·개발 → PR까지. 머지는 사람이 한다. </a:t>
            </a:r>
            <a:br>
              <a:rPr lang="ko-KR"/>
            </a:br>
            <a:r>
              <a:rPr lang="ko-KR"/>
              <a:t>중요: 자동으로 dev에 들어가지 않는다. cleanflow는 PR을 여는 데까지만 하고, 머지는 사람이 한다.</a:t>
            </a:r>
            <a:endParaRPr/>
          </a:p>
        </p:txBody>
      </p:sp>
      <p:sp>
        <p:nvSpPr>
          <p:cNvPr id="194" name="Google Shape;19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멈춤 ① 최신 확인 단계. 미병합 변경이 있으면 '그거 먼저 머지해주세요'. </a:t>
            </a:r>
            <a:br>
              <a:rPr lang="ko-KR"/>
            </a:br>
            <a:r>
              <a:rPr lang="ko-KR"/>
              <a:t>멈춤 ② 판정 4문항. 하나도 안 걸리면 '이 파일은 됐습니다' — 아무것도 안 하고 끝나는 게 정상 결과. </a:t>
            </a:r>
            <a:br>
              <a:rPr lang="ko-KR"/>
            </a:br>
            <a:r>
              <a:rPr lang="ko-KR"/>
              <a:t>멈춤 ③ 커밋 1 검증. 구분선 뺀 줄을 정렬해 이전과 다르면 커밋하지 않는다. </a:t>
            </a:r>
            <a:br>
              <a:rPr lang="ko-KR"/>
            </a:br>
            <a:r>
              <a:rPr lang="ko-KR"/>
              <a:t>한 문장으로 안 써지면 책임이 둘이라는 뜻 — 막지는 않되 PR에 적어 남긴다. </a:t>
            </a:r>
            <a:br>
              <a:rPr lang="ko-KR"/>
            </a:br>
            <a:r>
              <a:rPr lang="ko-KR"/>
              <a:t>멈춤 ②가 이 시스템의 성격을 정한다.</a:t>
            </a:r>
            <a:endParaRPr/>
          </a:p>
        </p:txBody>
      </p:sp>
      <p:sp>
        <p:nvSpPr>
          <p:cNvPr id="239" name="Google Shape;23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커밋을 둘로 쪼개, diff로 증명한다. 테스트가 없는 저장소라, diff 자체를 증거로 쓰는 것이 유일하게 쓸 만한 방법이다. </a:t>
            </a:r>
            <a:br>
              <a:rPr lang="ko-KR"/>
            </a:br>
            <a:r>
              <a:rPr lang="ko-KR"/>
              <a:t>커밋1(이동만): 선언 재배치 · 구분선 삽입 · 기존 주석은 딸려서 이동. 함수 본문 변경 0 → 동작이 안 바뀜 → 구분선 뺀 줄을 정렬해서 이전과 비교, 순서만 바뀌었으면 일치. </a:t>
            </a:r>
            <a:br>
              <a:rPr lang="ko-KR"/>
            </a:br>
            <a:r>
              <a:rPr lang="ko-KR"/>
              <a:t>커밋2(주석만): 파일 머리(책임+구역 지도) · 각 결정의 '왜'. 코드 변경 0 → 코드가 안 바뀜 → diff의 +/- 줄이 전부 주석인지 확인. </a:t>
            </a:r>
            <a:br>
              <a:rPr lang="ko-KR"/>
            </a:br>
            <a:r>
              <a:rPr lang="ko-KR"/>
              <a:t>이후 두 커밋 모두 npx tsc --noEmit 통과를 확인한다. 리뷰어는 커밋 1만 봐도 안전 확인이 끝나도록 설계했다.</a:t>
            </a:r>
            <a:endParaRPr/>
          </a:p>
        </p:txBody>
      </p:sp>
      <p:sp>
        <p:nvSpPr>
          <p:cNvPr id="267" name="Google Shape;26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실제로 cleanflow 기준에 맞춰 정리한 예시. 로직(함수 본문)은 한 글자도 안 바꾸고, 배치와 주석만 바꿨다. </a:t>
            </a:r>
            <a:br>
              <a:rPr lang="ko-KR"/>
            </a:br>
            <a:r>
              <a:rPr lang="ko-KR"/>
              <a:t>함수 순서: before는 쓴 순서 그대로(joinRoom → deleteRoom → createRoom 순으로 뒤섞임), after는 로비 흐름 순서(createRoom → getRoom → … → removePlayerFromLobby)로 재배치. 함수 본문은 그대로. </a:t>
            </a:r>
            <a:br>
              <a:rPr lang="ko-KR"/>
            </a:br>
            <a:r>
              <a:rPr lang="ko-KR"/>
              <a:t>주석: before는 '// 라벨 뽑기' '// 완료 플래그'처럼 뭘 하는지만 반복. after는 라벨을 무작위로 뽑는 이유(참가 순서 역산 방지), finalized 가드가 필요한 이유(웹훅 중복 방지)를 명시. </a:t>
            </a:r>
            <a:br>
              <a:rPr lang="ko-KR"/>
            </a:br>
            <a:r>
              <a:rPr lang="ko-KR"/>
              <a:t>로직은 한 글자도 안 바뀜 — 정렬해서 비교하면 코드 줄은 완전히 일치. 코드는 그대로 두고 배치와 주석만 정리했다.</a:t>
            </a:r>
            <a:endParaRPr/>
          </a:p>
        </p:txBody>
      </p:sp>
      <p:sp>
        <p:nvSpPr>
          <p:cNvPr id="295" name="Google Shape;29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1" name="Google Shape;35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정의 없이 배치부터 하면 취향 싸움이 된다 — ①정의 단계를 건너뛰고 바로 함수를 옮기면, 무엇을 기준으로 옮기는지가 사라진다. </a:t>
            </a:r>
            <a:br>
              <a:rPr lang="ko-KR"/>
            </a:br>
            <a:r>
              <a:rPr lang="ko-KR"/>
              <a:t>틀린 주석이 없는 주석보다 나쁘다 — LLM은 그럴듯한 이유를 잘 만들어낸다. 추정과 확인을 가르는 갈림길이 유일한 방어선이다. </a:t>
            </a:r>
            <a:br>
              <a:rPr lang="ko-KR"/>
            </a:br>
            <a:r>
              <a:rPr lang="ko-KR"/>
              <a:t>완벽한 차단보다 값싼 재실행 설계가 낫다 — 겹침을 100% 막을 수 없다면, 버리고 다시 하는 비용을 낮추는 쪽이 현실적이다. </a:t>
            </a:r>
            <a:br>
              <a:rPr lang="ko-KR"/>
            </a:br>
            <a:r>
              <a:rPr lang="ko-KR"/>
              <a:t>순서 정리는 목적이 아니라 탐지 도구다 — '이걸 어디 놓지?'가 안 나오는 함수가 곧 구조 문제, 정리 과정에서 그게 드러난다.</a:t>
            </a:r>
            <a:endParaRPr/>
          </a:p>
        </p:txBody>
      </p:sp>
      <p:sp>
        <p:nvSpPr>
          <p:cNvPr id="352" name="Google Shape;35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5" name="Google Shape;37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테스트 없는 저장소에서, diff 자체를 '동작이 안 바뀌었다'는 증거로 쓴다. 커밋을 이동/주석으로 완전히 분리하고, 각각을 기계적으로 검증 가능한 형태로 만든 것이 이 시스템의 핵심 설계다. </a:t>
            </a:r>
            <a:br>
              <a:rPr lang="ko-KR"/>
            </a:br>
            <a:r>
              <a:rPr lang="ko-KR"/>
              <a:t>'이 파일은 됐다'를 말할 수 있는 규칙 — 모든 파일을 뜯어고치는 규칙은 취향이다. 막히는 파일에만 걸리는 규칙이 좋은 규칙이다. </a:t>
            </a:r>
            <a:br>
              <a:rPr lang="ko-KR"/>
            </a:br>
            <a:r>
              <a:rPr lang="ko-KR"/>
              <a:t>허락이 아니라 통보 + 받아쓰는 법 — 물어보면 진도가 멈춘다. 먼저 바꾸고 받아쓰는 세 가지 방법을 함께 준다.</a:t>
            </a:r>
            <a:endParaRPr/>
          </a:p>
        </p:txBody>
      </p:sp>
      <p:sp>
        <p:nvSpPr>
          <p:cNvPr id="376" name="Google Shape;37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1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2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640080" y="429768"/>
            <a:ext cx="201168" cy="201168"/>
          </a:xfrm>
          <a:prstGeom prst="roundRect">
            <a:avLst>
              <a:gd fmla="val 50000" name="adj"/>
            </a:avLst>
          </a:prstGeom>
          <a:solidFill>
            <a:srgbClr val="0E8F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950976" y="384048"/>
            <a:ext cx="7315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200" u="none" cap="none" strike="noStrike">
                <a:solidFill>
                  <a:srgbClr val="0A6B50"/>
                </a:solidFill>
                <a:latin typeface="Noto Sans KR"/>
                <a:ea typeface="Noto Sans KR"/>
                <a:cs typeface="Noto Sans KR"/>
                <a:sym typeface="Noto Sans KR"/>
              </a:rPr>
              <a:t>4주차 · 클린 코드 검수 시스템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612648" y="1115568"/>
            <a:ext cx="82296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5400" u="none" cap="none" strike="noStrike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cleanflow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640080" y="2212848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500" u="none" cap="none" strike="noStrike">
                <a:solidFill>
                  <a:srgbClr val="0A6B50"/>
                </a:solidFill>
                <a:latin typeface="Consolas"/>
                <a:ea typeface="Consolas"/>
                <a:cs typeface="Consolas"/>
                <a:sym typeface="Consolas"/>
              </a:rPr>
              <a:t>// 코드에 읽는 순서를 만드는 시스템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640080" y="2651760"/>
            <a:ext cx="74982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550" u="none" cap="none" strike="noStrike">
                <a:solidFill>
                  <a:srgbClr val="626E69"/>
                </a:solidFill>
                <a:latin typeface="Noto Sans KR"/>
                <a:ea typeface="Noto Sans KR"/>
                <a:cs typeface="Noto Sans KR"/>
                <a:sym typeface="Noto Sans KR"/>
              </a:rPr>
              <a:t>"좋은 코드를 알아볼 수 있는가?"</a:t>
            </a:r>
            <a:endParaRPr/>
          </a:p>
        </p:txBody>
      </p:sp>
      <p:sp>
        <p:nvSpPr>
          <p:cNvPr id="93" name="Google Shape;93;p1"/>
          <p:cNvSpPr/>
          <p:nvPr/>
        </p:nvSpPr>
        <p:spPr>
          <a:xfrm>
            <a:off x="640080" y="3520440"/>
            <a:ext cx="6126480" cy="749808"/>
          </a:xfrm>
          <a:prstGeom prst="roundRect">
            <a:avLst>
              <a:gd fmla="val 14000" name="adj"/>
            </a:avLst>
          </a:prstGeom>
          <a:solidFill>
            <a:srgbClr val="F3F6F5"/>
          </a:solidFill>
          <a:ln cap="flat" cmpd="sng" w="12700">
            <a:solidFill>
              <a:srgbClr val="E4E9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640080" y="3520440"/>
            <a:ext cx="41148" cy="749808"/>
          </a:xfrm>
          <a:prstGeom prst="rect">
            <a:avLst/>
          </a:prstGeom>
          <a:solidFill>
            <a:srgbClr val="0E8F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960120" y="3779350"/>
            <a:ext cx="5577840" cy="2319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400" u="none" cap="none" strike="noStrike">
                <a:solidFill>
                  <a:srgbClr val="0A6B50"/>
                </a:solidFill>
                <a:latin typeface="Consolas"/>
                <a:ea typeface="Consolas"/>
                <a:cs typeface="Consolas"/>
                <a:sym typeface="Consolas"/>
              </a:rPr>
              <a:t>#cleanflow   apps/backend/src/room.ts</a:t>
            </a:r>
            <a:endParaRPr b="0" i="0" sz="1400" u="none" cap="none" strike="noStrike">
              <a:solidFill>
                <a:srgbClr val="0A6B5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640080" y="5989320"/>
            <a:ext cx="10908792" cy="9525"/>
          </a:xfrm>
          <a:prstGeom prst="rect">
            <a:avLst/>
          </a:prstGeom>
          <a:solidFill>
            <a:srgbClr val="E4E9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640080" y="6144768"/>
            <a:ext cx="2194560" cy="18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50" u="none" cap="none" strike="noStrike">
                <a:solidFill>
                  <a:srgbClr val="626E69"/>
                </a:solidFill>
                <a:latin typeface="Noto Sans KR"/>
                <a:ea typeface="Noto Sans KR"/>
                <a:cs typeface="Noto Sans KR"/>
                <a:sym typeface="Noto Sans KR"/>
              </a:rPr>
              <a:t>발표팀   Zeteo</a:t>
            </a:r>
            <a:endParaRPr b="0" i="0" sz="1150" u="none" cap="none" strike="noStrike">
              <a:solidFill>
                <a:srgbClr val="626E6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3063240" y="6144768"/>
            <a:ext cx="2651760" cy="18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50" u="none" cap="none" strike="noStrike">
                <a:solidFill>
                  <a:srgbClr val="626E69"/>
                </a:solidFill>
                <a:latin typeface="Noto Sans KR"/>
                <a:ea typeface="Noto Sans KR"/>
                <a:cs typeface="Noto Sans KR"/>
                <a:sym typeface="Noto Sans KR"/>
              </a:rPr>
              <a:t>4주차 · 클린 코드 시스템</a:t>
            </a:r>
            <a:endParaRPr b="0" i="0" sz="1150" u="none" cap="none" strike="noStrike">
              <a:solidFill>
                <a:srgbClr val="626E6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9" name="Google Shape;99;p1"/>
          <p:cNvSpPr/>
          <p:nvPr/>
        </p:nvSpPr>
        <p:spPr>
          <a:xfrm>
            <a:off x="11750040" y="2011680"/>
            <a:ext cx="12700" cy="3108960"/>
          </a:xfrm>
          <a:prstGeom prst="rect">
            <a:avLst/>
          </a:prstGeom>
          <a:solidFill>
            <a:srgbClr val="E4E9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"/>
          <p:cNvSpPr txBox="1"/>
          <p:nvPr/>
        </p:nvSpPr>
        <p:spPr>
          <a:xfrm rot="5400000">
            <a:off x="10561320" y="34290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000" u="none" cap="none" strike="noStrike">
                <a:solidFill>
                  <a:srgbClr val="9BA5A0"/>
                </a:solidFill>
                <a:latin typeface="Noto Sans KR"/>
                <a:ea typeface="Noto Sans KR"/>
                <a:cs typeface="Noto Sans KR"/>
                <a:sym typeface="Noto Sans KR"/>
              </a:rPr>
              <a:t>TEAMB · CLEANFLOW · 4주차</a:t>
            </a:r>
            <a:endParaRPr/>
          </a:p>
        </p:txBody>
      </p:sp>
      <p:sp>
        <p:nvSpPr>
          <p:cNvPr id="101" name="Google Shape;101;p1"/>
          <p:cNvSpPr/>
          <p:nvPr/>
        </p:nvSpPr>
        <p:spPr>
          <a:xfrm>
            <a:off x="681228" y="4444365"/>
            <a:ext cx="1356808" cy="1399032"/>
          </a:xfrm>
          <a:prstGeom prst="roundRect">
            <a:avLst>
              <a:gd fmla="val 50000" name="adj"/>
            </a:avLst>
          </a:prstGeom>
          <a:solidFill>
            <a:srgbClr val="F3F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681228" y="4963069"/>
            <a:ext cx="1356808" cy="277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700" u="none" cap="none" strike="noStrike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박진</a:t>
            </a:r>
            <a:endParaRPr b="1" i="0" sz="1700" u="none" cap="none" strike="noStrike">
              <a:solidFill>
                <a:srgbClr val="121A17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3" name="Google Shape;103;p1"/>
          <p:cNvSpPr/>
          <p:nvPr/>
        </p:nvSpPr>
        <p:spPr>
          <a:xfrm>
            <a:off x="2220109" y="4444365"/>
            <a:ext cx="1356808" cy="1399032"/>
          </a:xfrm>
          <a:prstGeom prst="roundRect">
            <a:avLst>
              <a:gd fmla="val 50000" name="adj"/>
            </a:avLst>
          </a:prstGeom>
          <a:solidFill>
            <a:srgbClr val="F3F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2220109" y="4963069"/>
            <a:ext cx="1356808" cy="277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700" u="none" cap="none" strike="noStrike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이현우</a:t>
            </a:r>
            <a:endParaRPr b="1" i="0" sz="1700" u="none" cap="none" strike="noStrike">
              <a:solidFill>
                <a:srgbClr val="121A17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5" name="Google Shape;105;p1"/>
          <p:cNvSpPr/>
          <p:nvPr/>
        </p:nvSpPr>
        <p:spPr>
          <a:xfrm>
            <a:off x="3853927" y="4444365"/>
            <a:ext cx="1356808" cy="1399032"/>
          </a:xfrm>
          <a:prstGeom prst="roundRect">
            <a:avLst>
              <a:gd fmla="val 50000" name="adj"/>
            </a:avLst>
          </a:prstGeom>
          <a:solidFill>
            <a:srgbClr val="F3F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3853927" y="4963069"/>
            <a:ext cx="1356808" cy="277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700" u="none" cap="none" strike="noStrike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김정현</a:t>
            </a:r>
            <a:endParaRPr b="1" i="0" sz="1700" u="none" cap="none" strike="noStrike">
              <a:solidFill>
                <a:srgbClr val="121A17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7" name="Google Shape;107;p1"/>
          <p:cNvSpPr/>
          <p:nvPr/>
        </p:nvSpPr>
        <p:spPr>
          <a:xfrm>
            <a:off x="5409752" y="4444365"/>
            <a:ext cx="1356808" cy="1399032"/>
          </a:xfrm>
          <a:prstGeom prst="roundRect">
            <a:avLst>
              <a:gd fmla="val 50000" name="adj"/>
            </a:avLst>
          </a:prstGeom>
          <a:solidFill>
            <a:srgbClr val="F3F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5409752" y="4963069"/>
            <a:ext cx="1356808" cy="277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700" u="none" cap="none" strike="noStrike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유민성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B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/>
          <p:nvPr/>
        </p:nvSpPr>
        <p:spPr>
          <a:xfrm>
            <a:off x="640080" y="429768"/>
            <a:ext cx="201168" cy="201168"/>
          </a:xfrm>
          <a:prstGeom prst="roundRect">
            <a:avLst>
              <a:gd fmla="val 50000" name="adj"/>
            </a:avLst>
          </a:prstGeom>
          <a:solidFill>
            <a:srgbClr val="0E8F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 txBox="1"/>
          <p:nvPr/>
        </p:nvSpPr>
        <p:spPr>
          <a:xfrm>
            <a:off x="950976" y="441808"/>
            <a:ext cx="7315200" cy="1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200">
                <a:solidFill>
                  <a:srgbClr val="0A6B50"/>
                </a:solidFill>
                <a:latin typeface="Noto Sans KR"/>
                <a:ea typeface="Noto Sans KR"/>
                <a:cs typeface="Noto Sans KR"/>
                <a:sym typeface="Noto Sans KR"/>
              </a:rPr>
              <a:t>01 · 기획배경 — 1-1. 무슨 어려움?</a:t>
            </a:r>
            <a:endParaRPr b="1" i="0" sz="1200">
              <a:solidFill>
                <a:srgbClr val="0A6B5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6" name="Google Shape;116;p3"/>
          <p:cNvSpPr txBox="1"/>
          <p:nvPr/>
        </p:nvSpPr>
        <p:spPr>
          <a:xfrm>
            <a:off x="640080" y="841248"/>
            <a:ext cx="10881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260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다른 사람이 쓴 코드를, 최대한 이해할 수 있게</a:t>
            </a:r>
            <a:endParaRPr/>
          </a:p>
        </p:txBody>
      </p:sp>
      <p:sp>
        <p:nvSpPr>
          <p:cNvPr id="117" name="Google Shape;117;p3"/>
          <p:cNvSpPr txBox="1"/>
          <p:nvPr/>
        </p:nvSpPr>
        <p:spPr>
          <a:xfrm>
            <a:off x="640080" y="1444752"/>
            <a:ext cx="10881360" cy="2510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350">
                <a:solidFill>
                  <a:srgbClr val="626E69"/>
                </a:solidFill>
                <a:latin typeface="Noto Sans KR"/>
                <a:ea typeface="Noto Sans KR"/>
                <a:cs typeface="Noto Sans KR"/>
                <a:sym typeface="Noto Sans KR"/>
              </a:rPr>
              <a:t>다른 스타일의 코드 → 확인 가능한 체크리스트로 대응</a:t>
            </a:r>
            <a:endParaRPr b="0" i="0" sz="1350">
              <a:solidFill>
                <a:srgbClr val="626E6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640080" y="2148840"/>
            <a:ext cx="5349240" cy="1371600"/>
          </a:xfrm>
          <a:prstGeom prst="roundRect">
            <a:avLst>
              <a:gd fmla="val 6000" name="adj"/>
            </a:avLst>
          </a:prstGeom>
          <a:solidFill>
            <a:srgbClr val="F3F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640080" y="2148840"/>
            <a:ext cx="5349240" cy="41148"/>
          </a:xfrm>
          <a:prstGeom prst="rect">
            <a:avLst/>
          </a:prstGeom>
          <a:solidFill>
            <a:srgbClr val="0E8F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 txBox="1"/>
          <p:nvPr/>
        </p:nvSpPr>
        <p:spPr>
          <a:xfrm>
            <a:off x="822960" y="2331720"/>
            <a:ext cx="4983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40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문제 — 사람마다 다른 코드</a:t>
            </a:r>
            <a:endParaRPr/>
          </a:p>
        </p:txBody>
      </p:sp>
      <p:sp>
        <p:nvSpPr>
          <p:cNvPr id="121" name="Google Shape;121;p3"/>
          <p:cNvSpPr txBox="1"/>
          <p:nvPr/>
        </p:nvSpPr>
        <p:spPr>
          <a:xfrm>
            <a:off x="822960" y="2679192"/>
            <a:ext cx="4983480" cy="2189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200">
                <a:solidFill>
                  <a:srgbClr val="626E69"/>
                </a:solidFill>
                <a:latin typeface="Noto Sans KR"/>
                <a:ea typeface="Noto Sans KR"/>
                <a:cs typeface="Noto Sans KR"/>
                <a:sym typeface="Noto Sans KR"/>
              </a:rPr>
              <a:t>각자 다른 스타일의 코드 → 서로 읽는 데 시간 걸림</a:t>
            </a:r>
            <a:endParaRPr b="0" i="0" sz="1200">
              <a:solidFill>
                <a:srgbClr val="626E6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6126480" y="2148840"/>
            <a:ext cx="5349240" cy="1371600"/>
          </a:xfrm>
          <a:prstGeom prst="roundRect">
            <a:avLst>
              <a:gd fmla="val 6000" name="adj"/>
            </a:avLst>
          </a:prstGeom>
          <a:solidFill>
            <a:srgbClr val="F3F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6126480" y="2148840"/>
            <a:ext cx="5349240" cy="41148"/>
          </a:xfrm>
          <a:prstGeom prst="rect">
            <a:avLst/>
          </a:prstGeom>
          <a:solidFill>
            <a:srgbClr val="0E8F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6309360" y="2331720"/>
            <a:ext cx="4983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40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대응 — 확인 가능한 체크리스트</a:t>
            </a:r>
            <a:endParaRPr/>
          </a:p>
        </p:txBody>
      </p:sp>
      <p:sp>
        <p:nvSpPr>
          <p:cNvPr id="125" name="Google Shape;125;p3"/>
          <p:cNvSpPr txBox="1"/>
          <p:nvPr/>
        </p:nvSpPr>
        <p:spPr>
          <a:xfrm>
            <a:off x="6309360" y="2679192"/>
            <a:ext cx="4983480" cy="2189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200">
                <a:solidFill>
                  <a:srgbClr val="626E69"/>
                </a:solidFill>
                <a:latin typeface="Noto Sans KR"/>
                <a:ea typeface="Noto Sans KR"/>
                <a:cs typeface="Noto Sans KR"/>
                <a:sym typeface="Noto Sans KR"/>
              </a:rPr>
              <a:t>감이 아니라, 답이 바로 나오는 질문 4가지로 판정</a:t>
            </a:r>
            <a:endParaRPr b="0" i="0" sz="1200">
              <a:solidFill>
                <a:srgbClr val="626E6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635000" y="3822700"/>
            <a:ext cx="10909300" cy="1397000"/>
          </a:xfrm>
          <a:prstGeom prst="roundRect">
            <a:avLst>
              <a:gd fmla="val 4500" name="adj"/>
            </a:avLst>
          </a:prstGeom>
          <a:solidFill>
            <a:srgbClr val="EAF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635000" y="3923665"/>
            <a:ext cx="50800" cy="1195070"/>
          </a:xfrm>
          <a:prstGeom prst="rect">
            <a:avLst/>
          </a:prstGeom>
          <a:solidFill>
            <a:srgbClr val="0E8F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 txBox="1"/>
          <p:nvPr/>
        </p:nvSpPr>
        <p:spPr>
          <a:xfrm>
            <a:off x="965200" y="4381500"/>
            <a:ext cx="10248900" cy="2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650">
                <a:solidFill>
                  <a:srgbClr val="0A6B50"/>
                </a:solidFill>
                <a:latin typeface="Noto Sans KR"/>
                <a:ea typeface="Noto Sans KR"/>
                <a:cs typeface="Noto Sans KR"/>
                <a:sym typeface="Noto Sans KR"/>
              </a:rPr>
              <a:t>체크리스트 충족 = cleanflow의 클린 코드 기준</a:t>
            </a:r>
            <a:endParaRPr b="1" i="0" sz="1650">
              <a:solidFill>
                <a:srgbClr val="0A6B5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9" name="Google Shape;129;p3"/>
          <p:cNvSpPr/>
          <p:nvPr/>
        </p:nvSpPr>
        <p:spPr>
          <a:xfrm>
            <a:off x="640080" y="6455664"/>
            <a:ext cx="10911535" cy="9525"/>
          </a:xfrm>
          <a:prstGeom prst="rect">
            <a:avLst/>
          </a:prstGeom>
          <a:solidFill>
            <a:srgbClr val="E4E9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 txBox="1"/>
          <p:nvPr/>
        </p:nvSpPr>
        <p:spPr>
          <a:xfrm>
            <a:off x="640080" y="6547104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50">
                <a:solidFill>
                  <a:srgbClr val="9BA5A0"/>
                </a:solidFill>
                <a:latin typeface="Noto Sans KR"/>
                <a:ea typeface="Noto Sans KR"/>
                <a:cs typeface="Noto Sans KR"/>
                <a:sym typeface="Noto Sans KR"/>
              </a:rPr>
              <a:t>cleanflow</a:t>
            </a:r>
            <a:endParaRPr/>
          </a:p>
        </p:txBody>
      </p:sp>
      <p:sp>
        <p:nvSpPr>
          <p:cNvPr id="131" name="Google Shape;131;p3"/>
          <p:cNvSpPr txBox="1"/>
          <p:nvPr/>
        </p:nvSpPr>
        <p:spPr>
          <a:xfrm>
            <a:off x="9966960" y="6547104"/>
            <a:ext cx="15819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950">
                <a:solidFill>
                  <a:srgbClr val="0A6B50"/>
                </a:solidFill>
                <a:latin typeface="Noto Sans KR"/>
                <a:ea typeface="Noto Sans KR"/>
                <a:cs typeface="Noto Sans KR"/>
                <a:sym typeface="Noto Sans KR"/>
              </a:rPr>
              <a:t>TeamB · 4주차   04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B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"/>
          <p:cNvSpPr/>
          <p:nvPr/>
        </p:nvSpPr>
        <p:spPr>
          <a:xfrm>
            <a:off x="640080" y="429768"/>
            <a:ext cx="201168" cy="201168"/>
          </a:xfrm>
          <a:prstGeom prst="roundRect">
            <a:avLst>
              <a:gd fmla="val 50000" name="adj"/>
            </a:avLst>
          </a:prstGeom>
          <a:solidFill>
            <a:srgbClr val="0E8F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 txBox="1"/>
          <p:nvPr/>
        </p:nvSpPr>
        <p:spPr>
          <a:xfrm>
            <a:off x="950976" y="441808"/>
            <a:ext cx="7315200" cy="1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200">
                <a:solidFill>
                  <a:srgbClr val="0A6B50"/>
                </a:solidFill>
                <a:latin typeface="Noto Sans KR"/>
                <a:ea typeface="Noto Sans KR"/>
                <a:cs typeface="Noto Sans KR"/>
                <a:sym typeface="Noto Sans KR"/>
              </a:rPr>
              <a:t>01 · 기획배경 — 1-2. 이런 어려움으로 만든 체크리스트 (원칙)</a:t>
            </a:r>
            <a:endParaRPr b="1" i="0" sz="1200">
              <a:solidFill>
                <a:srgbClr val="0A6B5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9" name="Google Shape;139;p4"/>
          <p:cNvSpPr txBox="1"/>
          <p:nvPr/>
        </p:nvSpPr>
        <p:spPr>
          <a:xfrm>
            <a:off x="640080" y="841248"/>
            <a:ext cx="10881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240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코드는 건드리지 않는다 — 옮기고, 묶고, 구분한다</a:t>
            </a:r>
            <a:endParaRPr/>
          </a:p>
        </p:txBody>
      </p:sp>
      <p:sp>
        <p:nvSpPr>
          <p:cNvPr id="140" name="Google Shape;140;p4"/>
          <p:cNvSpPr txBox="1"/>
          <p:nvPr/>
        </p:nvSpPr>
        <p:spPr>
          <a:xfrm>
            <a:off x="640080" y="1444752"/>
            <a:ext cx="10881360" cy="2510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350">
                <a:solidFill>
                  <a:srgbClr val="626E69"/>
                </a:solidFill>
                <a:latin typeface="Noto Sans KR"/>
                <a:ea typeface="Noto Sans KR"/>
                <a:cs typeface="Noto Sans KR"/>
                <a:sym typeface="Noto Sans KR"/>
              </a:rPr>
              <a:t>로직은 안 건드리고, 배치와 주석만 바꾼다</a:t>
            </a:r>
            <a:endParaRPr b="0" i="0" sz="1350">
              <a:solidFill>
                <a:srgbClr val="626E6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4241800" y="1828800"/>
            <a:ext cx="7302500" cy="1333500"/>
          </a:xfrm>
          <a:prstGeom prst="roundRect">
            <a:avLst>
              <a:gd fmla="val 6000" name="adj"/>
            </a:avLst>
          </a:prstGeom>
          <a:solidFill>
            <a:srgbClr val="F3F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4241800" y="1828800"/>
            <a:ext cx="7302500" cy="38100"/>
          </a:xfrm>
          <a:prstGeom prst="rect">
            <a:avLst/>
          </a:prstGeom>
          <a:solidFill>
            <a:srgbClr val="0E8F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 txBox="1"/>
          <p:nvPr/>
        </p:nvSpPr>
        <p:spPr>
          <a:xfrm>
            <a:off x="4419600" y="2006600"/>
            <a:ext cx="695960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45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① 코드 자체는 건드리지 않는다</a:t>
            </a:r>
            <a:endParaRPr/>
          </a:p>
        </p:txBody>
      </p:sp>
      <p:sp>
        <p:nvSpPr>
          <p:cNvPr id="144" name="Google Shape;144;p4"/>
          <p:cNvSpPr txBox="1"/>
          <p:nvPr/>
        </p:nvSpPr>
        <p:spPr>
          <a:xfrm>
            <a:off x="4419600" y="2362200"/>
            <a:ext cx="695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250">
                <a:solidFill>
                  <a:srgbClr val="626E69"/>
                </a:solidFill>
                <a:latin typeface="Noto Sans KR"/>
                <a:ea typeface="Noto Sans KR"/>
                <a:cs typeface="Noto Sans KR"/>
                <a:sym typeface="Noto Sans KR"/>
              </a:rPr>
              <a:t>로직 0글자 변경 — 주석과 위치만</a:t>
            </a:r>
            <a:endParaRPr b="0" i="0" sz="1250">
              <a:solidFill>
                <a:srgbClr val="626E6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4241800" y="3390900"/>
            <a:ext cx="7302500" cy="1333500"/>
          </a:xfrm>
          <a:prstGeom prst="roundRect">
            <a:avLst>
              <a:gd fmla="val 6000" name="adj"/>
            </a:avLst>
          </a:prstGeom>
          <a:solidFill>
            <a:srgbClr val="F3F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4241800" y="3390900"/>
            <a:ext cx="7302500" cy="38100"/>
          </a:xfrm>
          <a:prstGeom prst="rect">
            <a:avLst/>
          </a:prstGeom>
          <a:solidFill>
            <a:srgbClr val="0E8F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 txBox="1"/>
          <p:nvPr/>
        </p:nvSpPr>
        <p:spPr>
          <a:xfrm>
            <a:off x="4419600" y="3568700"/>
            <a:ext cx="695960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45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② 관련 내용은 전체로 묶는다</a:t>
            </a:r>
            <a:endParaRPr/>
          </a:p>
        </p:txBody>
      </p:sp>
      <p:sp>
        <p:nvSpPr>
          <p:cNvPr id="148" name="Google Shape;148;p4"/>
          <p:cNvSpPr txBox="1"/>
          <p:nvPr/>
        </p:nvSpPr>
        <p:spPr>
          <a:xfrm>
            <a:off x="4419600" y="3924300"/>
            <a:ext cx="695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250">
                <a:solidFill>
                  <a:srgbClr val="626E69"/>
                </a:solidFill>
                <a:latin typeface="Noto Sans KR"/>
                <a:ea typeface="Noto Sans KR"/>
                <a:cs typeface="Noto Sans KR"/>
                <a:sym typeface="Noto Sans KR"/>
              </a:rPr>
              <a:t>흩어진 관련 함수·상수를 한 구역으로</a:t>
            </a:r>
            <a:endParaRPr b="0" i="0" sz="1250">
              <a:solidFill>
                <a:srgbClr val="626E6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4241800" y="4953000"/>
            <a:ext cx="7302500" cy="1333500"/>
          </a:xfrm>
          <a:prstGeom prst="roundRect">
            <a:avLst>
              <a:gd fmla="val 6000" name="adj"/>
            </a:avLst>
          </a:prstGeom>
          <a:solidFill>
            <a:srgbClr val="F3F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4241800" y="4953000"/>
            <a:ext cx="7302500" cy="38100"/>
          </a:xfrm>
          <a:prstGeom prst="rect">
            <a:avLst/>
          </a:prstGeom>
          <a:solidFill>
            <a:srgbClr val="0E8F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 txBox="1"/>
          <p:nvPr/>
        </p:nvSpPr>
        <p:spPr>
          <a:xfrm>
            <a:off x="4419600" y="5130800"/>
            <a:ext cx="695960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45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③ 묶은 파트가 끝나면 주석으로 구분한다</a:t>
            </a:r>
            <a:endParaRPr/>
          </a:p>
        </p:txBody>
      </p:sp>
      <p:sp>
        <p:nvSpPr>
          <p:cNvPr id="152" name="Google Shape;152;p4"/>
          <p:cNvSpPr txBox="1"/>
          <p:nvPr/>
        </p:nvSpPr>
        <p:spPr>
          <a:xfrm>
            <a:off x="4419600" y="5486400"/>
            <a:ext cx="695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250">
                <a:solidFill>
                  <a:srgbClr val="626E69"/>
                </a:solidFill>
                <a:latin typeface="Noto Sans KR"/>
                <a:ea typeface="Noto Sans KR"/>
                <a:cs typeface="Noto Sans KR"/>
                <a:sym typeface="Noto Sans KR"/>
              </a:rPr>
              <a:t>구역 경계마다 구분 주석 남기기</a:t>
            </a:r>
            <a:endParaRPr b="0" i="0" sz="1250">
              <a:solidFill>
                <a:srgbClr val="626E6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640080" y="6455664"/>
            <a:ext cx="10911535" cy="9525"/>
          </a:xfrm>
          <a:prstGeom prst="rect">
            <a:avLst/>
          </a:prstGeom>
          <a:solidFill>
            <a:srgbClr val="E4E9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 txBox="1"/>
          <p:nvPr/>
        </p:nvSpPr>
        <p:spPr>
          <a:xfrm>
            <a:off x="640080" y="6547104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50">
                <a:solidFill>
                  <a:srgbClr val="9BA5A0"/>
                </a:solidFill>
                <a:latin typeface="Noto Sans KR"/>
                <a:ea typeface="Noto Sans KR"/>
                <a:cs typeface="Noto Sans KR"/>
                <a:sym typeface="Noto Sans KR"/>
              </a:rPr>
              <a:t>cleanflow</a:t>
            </a:r>
            <a:endParaRPr/>
          </a:p>
        </p:txBody>
      </p:sp>
      <p:sp>
        <p:nvSpPr>
          <p:cNvPr id="155" name="Google Shape;155;p4"/>
          <p:cNvSpPr txBox="1"/>
          <p:nvPr/>
        </p:nvSpPr>
        <p:spPr>
          <a:xfrm>
            <a:off x="9966960" y="6547104"/>
            <a:ext cx="15819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950">
                <a:solidFill>
                  <a:srgbClr val="0A6B50"/>
                </a:solidFill>
                <a:latin typeface="Noto Sans KR"/>
                <a:ea typeface="Noto Sans KR"/>
                <a:cs typeface="Noto Sans KR"/>
                <a:sym typeface="Noto Sans KR"/>
              </a:rPr>
              <a:t>TeamB · 4주차   05</a:t>
            </a:r>
            <a:endParaRPr/>
          </a:p>
        </p:txBody>
      </p:sp>
      <p:sp>
        <p:nvSpPr>
          <p:cNvPr id="156" name="Google Shape;156;p4"/>
          <p:cNvSpPr/>
          <p:nvPr/>
        </p:nvSpPr>
        <p:spPr>
          <a:xfrm>
            <a:off x="635000" y="1828800"/>
            <a:ext cx="3302000" cy="965200"/>
          </a:xfrm>
          <a:prstGeom prst="roundRect">
            <a:avLst>
              <a:gd fmla="val 8000" name="adj"/>
            </a:avLst>
          </a:prstGeom>
          <a:solidFill>
            <a:srgbClr val="F3F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635000" y="1944116"/>
            <a:ext cx="50800" cy="734568"/>
          </a:xfrm>
          <a:prstGeom prst="rect">
            <a:avLst/>
          </a:prstGeom>
          <a:solidFill>
            <a:srgbClr val="0E8F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"/>
          <p:cNvSpPr txBox="1"/>
          <p:nvPr/>
        </p:nvSpPr>
        <p:spPr>
          <a:xfrm>
            <a:off x="838200" y="1930400"/>
            <a:ext cx="2921000" cy="269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5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윤곽이 잡히는가</a:t>
            </a:r>
            <a:endParaRPr/>
          </a:p>
        </p:txBody>
      </p:sp>
      <p:sp>
        <p:nvSpPr>
          <p:cNvPr id="159" name="Google Shape;159;p4"/>
          <p:cNvSpPr/>
          <p:nvPr/>
        </p:nvSpPr>
        <p:spPr>
          <a:xfrm>
            <a:off x="635000" y="2971800"/>
            <a:ext cx="3302000" cy="965200"/>
          </a:xfrm>
          <a:prstGeom prst="roundRect">
            <a:avLst>
              <a:gd fmla="val 8000" name="adj"/>
            </a:avLst>
          </a:prstGeom>
          <a:solidFill>
            <a:srgbClr val="F3F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4"/>
          <p:cNvSpPr/>
          <p:nvPr/>
        </p:nvSpPr>
        <p:spPr>
          <a:xfrm>
            <a:off x="635000" y="3087116"/>
            <a:ext cx="50800" cy="734568"/>
          </a:xfrm>
          <a:prstGeom prst="rect">
            <a:avLst/>
          </a:prstGeom>
          <a:solidFill>
            <a:srgbClr val="0E8F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4"/>
          <p:cNvSpPr txBox="1"/>
          <p:nvPr/>
        </p:nvSpPr>
        <p:spPr>
          <a:xfrm>
            <a:off x="838200" y="3073400"/>
            <a:ext cx="2921000" cy="269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5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선언 하나 찾을 때 전체를 봐야하는가</a:t>
            </a:r>
            <a:endParaRPr b="1" sz="1150">
              <a:solidFill>
                <a:srgbClr val="121A17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2" name="Google Shape;162;p4"/>
          <p:cNvSpPr/>
          <p:nvPr/>
        </p:nvSpPr>
        <p:spPr>
          <a:xfrm>
            <a:off x="635000" y="4114800"/>
            <a:ext cx="3302000" cy="965200"/>
          </a:xfrm>
          <a:prstGeom prst="roundRect">
            <a:avLst>
              <a:gd fmla="val 8000" name="adj"/>
            </a:avLst>
          </a:prstGeom>
          <a:solidFill>
            <a:srgbClr val="F3F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/>
          <p:nvPr/>
        </p:nvSpPr>
        <p:spPr>
          <a:xfrm>
            <a:off x="635000" y="4230116"/>
            <a:ext cx="50800" cy="734568"/>
          </a:xfrm>
          <a:prstGeom prst="rect">
            <a:avLst/>
          </a:prstGeom>
          <a:solidFill>
            <a:srgbClr val="0E8F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4"/>
          <p:cNvSpPr txBox="1"/>
          <p:nvPr/>
        </p:nvSpPr>
        <p:spPr>
          <a:xfrm>
            <a:off x="838200" y="4216400"/>
            <a:ext cx="2921000" cy="269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5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책임을 한 문장으로 말할 수 있는가</a:t>
            </a:r>
            <a:endParaRPr/>
          </a:p>
        </p:txBody>
      </p:sp>
      <p:sp>
        <p:nvSpPr>
          <p:cNvPr id="165" name="Google Shape;165;p4"/>
          <p:cNvSpPr/>
          <p:nvPr/>
        </p:nvSpPr>
        <p:spPr>
          <a:xfrm>
            <a:off x="635000" y="5257800"/>
            <a:ext cx="3302000" cy="965200"/>
          </a:xfrm>
          <a:prstGeom prst="roundRect">
            <a:avLst>
              <a:gd fmla="val 8000" name="adj"/>
            </a:avLst>
          </a:prstGeom>
          <a:solidFill>
            <a:srgbClr val="F3F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4"/>
          <p:cNvSpPr/>
          <p:nvPr/>
        </p:nvSpPr>
        <p:spPr>
          <a:xfrm>
            <a:off x="635000" y="5373116"/>
            <a:ext cx="50800" cy="734568"/>
          </a:xfrm>
          <a:prstGeom prst="rect">
            <a:avLst/>
          </a:prstGeom>
          <a:solidFill>
            <a:srgbClr val="0E8F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 txBox="1"/>
          <p:nvPr/>
        </p:nvSpPr>
        <p:spPr>
          <a:xfrm>
            <a:off x="838200" y="5359400"/>
            <a:ext cx="2921000" cy="269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5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안 드러난 이유가 있는가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B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"/>
          <p:cNvSpPr/>
          <p:nvPr/>
        </p:nvSpPr>
        <p:spPr>
          <a:xfrm>
            <a:off x="640080" y="429768"/>
            <a:ext cx="201168" cy="201168"/>
          </a:xfrm>
          <a:prstGeom prst="roundRect">
            <a:avLst>
              <a:gd fmla="val 50000" name="adj"/>
            </a:avLst>
          </a:prstGeom>
          <a:solidFill>
            <a:srgbClr val="0E8F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 txBox="1"/>
          <p:nvPr/>
        </p:nvSpPr>
        <p:spPr>
          <a:xfrm>
            <a:off x="950976" y="441808"/>
            <a:ext cx="7315200" cy="1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200">
                <a:solidFill>
                  <a:srgbClr val="0A6B50"/>
                </a:solidFill>
                <a:latin typeface="Noto Sans KR"/>
                <a:ea typeface="Noto Sans KR"/>
                <a:cs typeface="Noto Sans KR"/>
                <a:sym typeface="Noto Sans KR"/>
              </a:rPr>
              <a:t>01 · 기획배경 — 1-2. 이런 어려움으로 만든 체크리스트 (정의)</a:t>
            </a:r>
            <a:endParaRPr b="1" i="0" sz="1200">
              <a:solidFill>
                <a:srgbClr val="0A6B5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5" name="Google Shape;175;p5"/>
          <p:cNvSpPr txBox="1"/>
          <p:nvPr/>
        </p:nvSpPr>
        <p:spPr>
          <a:xfrm>
            <a:off x="640080" y="841248"/>
            <a:ext cx="10881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300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우리에게 클린 코드란</a:t>
            </a:r>
            <a:endParaRPr/>
          </a:p>
        </p:txBody>
      </p:sp>
      <p:sp>
        <p:nvSpPr>
          <p:cNvPr id="176" name="Google Shape;176;p5"/>
          <p:cNvSpPr/>
          <p:nvPr/>
        </p:nvSpPr>
        <p:spPr>
          <a:xfrm>
            <a:off x="640080" y="1737360"/>
            <a:ext cx="10908792" cy="1600200"/>
          </a:xfrm>
          <a:prstGeom prst="roundRect">
            <a:avLst>
              <a:gd fmla="val 4500" name="adj"/>
            </a:avLst>
          </a:prstGeom>
          <a:solidFill>
            <a:srgbClr val="EAF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640080" y="1737360"/>
            <a:ext cx="54864" cy="1600200"/>
          </a:xfrm>
          <a:prstGeom prst="rect">
            <a:avLst/>
          </a:prstGeom>
          <a:solidFill>
            <a:srgbClr val="0E8F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 txBox="1"/>
          <p:nvPr/>
        </p:nvSpPr>
        <p:spPr>
          <a:xfrm>
            <a:off x="969264" y="1938528"/>
            <a:ext cx="10250424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2100">
                <a:solidFill>
                  <a:srgbClr val="0A6B50"/>
                </a:solidFill>
                <a:latin typeface="Noto Sans KR"/>
                <a:ea typeface="Noto Sans KR"/>
                <a:cs typeface="Noto Sans KR"/>
                <a:sym typeface="Noto Sans KR"/>
              </a:rPr>
              <a:t>처음 읽는 사람이 위에서 아래로 한 번 훑어서 이해할 수 있는 코드.</a:t>
            </a:r>
            <a:endParaRPr/>
          </a:p>
        </p:txBody>
      </p:sp>
      <p:sp>
        <p:nvSpPr>
          <p:cNvPr id="179" name="Google Shape;179;p5"/>
          <p:cNvSpPr txBox="1"/>
          <p:nvPr/>
        </p:nvSpPr>
        <p:spPr>
          <a:xfrm>
            <a:off x="969264" y="2752344"/>
            <a:ext cx="10250424" cy="209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50">
                <a:solidFill>
                  <a:srgbClr val="626E69"/>
                </a:solidFill>
                <a:latin typeface="Noto Sans KR"/>
                <a:ea typeface="Noto Sans KR"/>
                <a:cs typeface="Noto Sans KR"/>
                <a:sym typeface="Noto Sans KR"/>
              </a:rPr>
              <a:t>판정 불가능한 감 대신, 확인 가능한 정의를 골랐다</a:t>
            </a:r>
            <a:endParaRPr b="0" i="0" sz="1150">
              <a:solidFill>
                <a:srgbClr val="626E6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640080" y="3566160"/>
            <a:ext cx="5349240" cy="1234440"/>
          </a:xfrm>
          <a:prstGeom prst="roundRect">
            <a:avLst>
              <a:gd fmla="val 6000" name="adj"/>
            </a:avLst>
          </a:prstGeom>
          <a:solidFill>
            <a:srgbClr val="F3F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640080" y="3566160"/>
            <a:ext cx="5349240" cy="41148"/>
          </a:xfrm>
          <a:prstGeom prst="rect">
            <a:avLst/>
          </a:prstGeom>
          <a:solidFill>
            <a:srgbClr val="0E8F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 txBox="1"/>
          <p:nvPr/>
        </p:nvSpPr>
        <p:spPr>
          <a:xfrm>
            <a:off x="822960" y="3749040"/>
            <a:ext cx="4983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45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① 순서가 흐름을 따를 것</a:t>
            </a:r>
            <a:endParaRPr/>
          </a:p>
        </p:txBody>
      </p:sp>
      <p:sp>
        <p:nvSpPr>
          <p:cNvPr id="183" name="Google Shape;183;p5"/>
          <p:cNvSpPr txBox="1"/>
          <p:nvPr/>
        </p:nvSpPr>
        <p:spPr>
          <a:xfrm>
            <a:off x="822960" y="4096512"/>
            <a:ext cx="4983480" cy="630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250">
                <a:solidFill>
                  <a:srgbClr val="626E69"/>
                </a:solidFill>
                <a:latin typeface="Noto Sans KR"/>
                <a:ea typeface="Noto Sans KR"/>
                <a:cs typeface="Noto Sans KR"/>
                <a:sym typeface="Noto Sans KR"/>
              </a:rPr>
              <a:t>읽다가 되돌아가지 않아도 된다 — 배치의 문제</a:t>
            </a:r>
            <a:endParaRPr/>
          </a:p>
        </p:txBody>
      </p:sp>
      <p:sp>
        <p:nvSpPr>
          <p:cNvPr id="184" name="Google Shape;184;p5"/>
          <p:cNvSpPr/>
          <p:nvPr/>
        </p:nvSpPr>
        <p:spPr>
          <a:xfrm>
            <a:off x="6126480" y="3566160"/>
            <a:ext cx="5349240" cy="1234440"/>
          </a:xfrm>
          <a:prstGeom prst="roundRect">
            <a:avLst>
              <a:gd fmla="val 6000" name="adj"/>
            </a:avLst>
          </a:prstGeom>
          <a:solidFill>
            <a:srgbClr val="F3F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6126480" y="3566160"/>
            <a:ext cx="5349240" cy="41148"/>
          </a:xfrm>
          <a:prstGeom prst="rect">
            <a:avLst/>
          </a:prstGeom>
          <a:solidFill>
            <a:srgbClr val="0E8F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 txBox="1"/>
          <p:nvPr/>
        </p:nvSpPr>
        <p:spPr>
          <a:xfrm>
            <a:off x="6309360" y="3749040"/>
            <a:ext cx="4983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45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② 흐름만으로 알 수 없는 것이 적혀 있을 것</a:t>
            </a:r>
            <a:endParaRPr/>
          </a:p>
        </p:txBody>
      </p:sp>
      <p:sp>
        <p:nvSpPr>
          <p:cNvPr id="187" name="Google Shape;187;p5"/>
          <p:cNvSpPr txBox="1"/>
          <p:nvPr/>
        </p:nvSpPr>
        <p:spPr>
          <a:xfrm>
            <a:off x="6309360" y="4096512"/>
            <a:ext cx="4983480" cy="630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250">
                <a:solidFill>
                  <a:srgbClr val="626E69"/>
                </a:solidFill>
                <a:latin typeface="Noto Sans KR"/>
                <a:ea typeface="Noto Sans KR"/>
                <a:cs typeface="Noto Sans KR"/>
                <a:sym typeface="Noto Sans KR"/>
              </a:rPr>
              <a:t>왜 이 방식인지 — 주석의 문제</a:t>
            </a:r>
            <a:endParaRPr/>
          </a:p>
        </p:txBody>
      </p:sp>
      <p:sp>
        <p:nvSpPr>
          <p:cNvPr id="188" name="Google Shape;188;p5"/>
          <p:cNvSpPr/>
          <p:nvPr/>
        </p:nvSpPr>
        <p:spPr>
          <a:xfrm>
            <a:off x="640080" y="6455664"/>
            <a:ext cx="10911535" cy="9525"/>
          </a:xfrm>
          <a:prstGeom prst="rect">
            <a:avLst/>
          </a:prstGeom>
          <a:solidFill>
            <a:srgbClr val="E4E9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 txBox="1"/>
          <p:nvPr/>
        </p:nvSpPr>
        <p:spPr>
          <a:xfrm>
            <a:off x="640080" y="6547104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50">
                <a:solidFill>
                  <a:srgbClr val="9BA5A0"/>
                </a:solidFill>
                <a:latin typeface="Noto Sans KR"/>
                <a:ea typeface="Noto Sans KR"/>
                <a:cs typeface="Noto Sans KR"/>
                <a:sym typeface="Noto Sans KR"/>
              </a:rPr>
              <a:t>cleanflow</a:t>
            </a:r>
            <a:endParaRPr/>
          </a:p>
        </p:txBody>
      </p:sp>
      <p:sp>
        <p:nvSpPr>
          <p:cNvPr id="190" name="Google Shape;190;p5"/>
          <p:cNvSpPr txBox="1"/>
          <p:nvPr/>
        </p:nvSpPr>
        <p:spPr>
          <a:xfrm>
            <a:off x="9966960" y="6547104"/>
            <a:ext cx="15819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950">
                <a:solidFill>
                  <a:srgbClr val="0A6B50"/>
                </a:solidFill>
                <a:latin typeface="Noto Sans KR"/>
                <a:ea typeface="Noto Sans KR"/>
                <a:cs typeface="Noto Sans KR"/>
                <a:sym typeface="Noto Sans KR"/>
              </a:rPr>
              <a:t>TeamB · 4주차   06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B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6"/>
          <p:cNvSpPr/>
          <p:nvPr/>
        </p:nvSpPr>
        <p:spPr>
          <a:xfrm>
            <a:off x="640080" y="429768"/>
            <a:ext cx="201168" cy="201168"/>
          </a:xfrm>
          <a:prstGeom prst="roundRect">
            <a:avLst>
              <a:gd fmla="val 50000" name="adj"/>
            </a:avLst>
          </a:prstGeom>
          <a:solidFill>
            <a:srgbClr val="0E8F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 txBox="1"/>
          <p:nvPr/>
        </p:nvSpPr>
        <p:spPr>
          <a:xfrm>
            <a:off x="950976" y="441808"/>
            <a:ext cx="7315200" cy="1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200">
                <a:solidFill>
                  <a:srgbClr val="0A6B50"/>
                </a:solidFill>
                <a:latin typeface="Noto Sans KR"/>
                <a:ea typeface="Noto Sans KR"/>
                <a:cs typeface="Noto Sans KR"/>
                <a:sym typeface="Noto Sans KR"/>
              </a:rPr>
              <a:t>03 · 시스템 설계도(흐름 설명) — 전체 그림</a:t>
            </a:r>
            <a:endParaRPr b="1" i="0" sz="1200">
              <a:solidFill>
                <a:srgbClr val="0A6B5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98" name="Google Shape;198;p6"/>
          <p:cNvSpPr txBox="1"/>
          <p:nvPr/>
        </p:nvSpPr>
        <p:spPr>
          <a:xfrm>
            <a:off x="640080" y="841248"/>
            <a:ext cx="10881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300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전체 그림</a:t>
            </a:r>
            <a:endParaRPr/>
          </a:p>
        </p:txBody>
      </p:sp>
      <p:sp>
        <p:nvSpPr>
          <p:cNvPr id="199" name="Google Shape;199;p6"/>
          <p:cNvSpPr txBox="1"/>
          <p:nvPr/>
        </p:nvSpPr>
        <p:spPr>
          <a:xfrm>
            <a:off x="640080" y="1444752"/>
            <a:ext cx="10881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350">
                <a:solidFill>
                  <a:srgbClr val="626E69"/>
                </a:solidFill>
                <a:latin typeface="Noto Sans KR"/>
                <a:ea typeface="Noto Sans KR"/>
                <a:cs typeface="Noto Sans KR"/>
                <a:sym typeface="Noto Sans KR"/>
              </a:rPr>
              <a:t>디스코드에 파일 경로 한 줄 → cleanflow가 정의·기획·개발 → PR까지. 머지는 사람이 한다.</a:t>
            </a:r>
            <a:endParaRPr/>
          </a:p>
        </p:txBody>
      </p:sp>
      <p:sp>
        <p:nvSpPr>
          <p:cNvPr id="200" name="Google Shape;200;p6"/>
          <p:cNvSpPr/>
          <p:nvPr/>
        </p:nvSpPr>
        <p:spPr>
          <a:xfrm>
            <a:off x="640080" y="6455664"/>
            <a:ext cx="10911535" cy="9525"/>
          </a:xfrm>
          <a:prstGeom prst="rect">
            <a:avLst/>
          </a:prstGeom>
          <a:solidFill>
            <a:srgbClr val="E4E9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 txBox="1"/>
          <p:nvPr/>
        </p:nvSpPr>
        <p:spPr>
          <a:xfrm>
            <a:off x="640080" y="6547104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50">
                <a:solidFill>
                  <a:srgbClr val="9BA5A0"/>
                </a:solidFill>
                <a:latin typeface="Noto Sans KR"/>
                <a:ea typeface="Noto Sans KR"/>
                <a:cs typeface="Noto Sans KR"/>
                <a:sym typeface="Noto Sans KR"/>
              </a:rPr>
              <a:t>cleanflow</a:t>
            </a:r>
            <a:endParaRPr/>
          </a:p>
        </p:txBody>
      </p:sp>
      <p:sp>
        <p:nvSpPr>
          <p:cNvPr id="202" name="Google Shape;202;p6"/>
          <p:cNvSpPr txBox="1"/>
          <p:nvPr/>
        </p:nvSpPr>
        <p:spPr>
          <a:xfrm>
            <a:off x="9966960" y="6547104"/>
            <a:ext cx="15819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950">
                <a:solidFill>
                  <a:srgbClr val="0A6B50"/>
                </a:solidFill>
                <a:latin typeface="Noto Sans KR"/>
                <a:ea typeface="Noto Sans KR"/>
                <a:cs typeface="Noto Sans KR"/>
                <a:sym typeface="Noto Sans KR"/>
              </a:rPr>
              <a:t>TeamB · 4주차   09</a:t>
            </a:r>
            <a:endParaRPr/>
          </a:p>
        </p:txBody>
      </p:sp>
      <p:sp>
        <p:nvSpPr>
          <p:cNvPr id="203" name="Google Shape;203;p6"/>
          <p:cNvSpPr/>
          <p:nvPr/>
        </p:nvSpPr>
        <p:spPr>
          <a:xfrm>
            <a:off x="635000" y="2349500"/>
            <a:ext cx="2667000" cy="2222500"/>
          </a:xfrm>
          <a:prstGeom prst="roundRect">
            <a:avLst>
              <a:gd fmla="val 4000" name="adj"/>
            </a:avLst>
          </a:prstGeom>
          <a:solidFill>
            <a:srgbClr val="F3F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762000" y="2349500"/>
            <a:ext cx="2413000" cy="38100"/>
          </a:xfrm>
          <a:prstGeom prst="rect">
            <a:avLst/>
          </a:prstGeom>
          <a:solidFill>
            <a:srgbClr val="0E8F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 txBox="1"/>
          <p:nvPr/>
        </p:nvSpPr>
        <p:spPr>
          <a:xfrm>
            <a:off x="825500" y="2501900"/>
            <a:ext cx="22860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사람</a:t>
            </a:r>
            <a:endParaRPr/>
          </a:p>
        </p:txBody>
      </p:sp>
      <p:sp>
        <p:nvSpPr>
          <p:cNvPr id="206" name="Google Shape;206;p6"/>
          <p:cNvSpPr txBox="1"/>
          <p:nvPr/>
        </p:nvSpPr>
        <p:spPr>
          <a:xfrm>
            <a:off x="825500" y="2946400"/>
            <a:ext cx="2286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디스코드에 파일 경로를 남긴다</a:t>
            </a:r>
            <a:endParaRPr/>
          </a:p>
        </p:txBody>
      </p:sp>
      <p:sp>
        <p:nvSpPr>
          <p:cNvPr id="207" name="Google Shape;207;p6"/>
          <p:cNvSpPr/>
          <p:nvPr/>
        </p:nvSpPr>
        <p:spPr>
          <a:xfrm>
            <a:off x="635000" y="2349500"/>
            <a:ext cx="2667000" cy="2222500"/>
          </a:xfrm>
          <a:prstGeom prst="roundRect">
            <a:avLst>
              <a:gd fmla="val 4000" name="adj"/>
            </a:avLst>
          </a:prstGeom>
          <a:solidFill>
            <a:srgbClr val="F3F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635000" y="2349500"/>
            <a:ext cx="2667000" cy="38100"/>
          </a:xfrm>
          <a:prstGeom prst="rect">
            <a:avLst/>
          </a:prstGeom>
          <a:solidFill>
            <a:srgbClr val="0E8F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 txBox="1"/>
          <p:nvPr/>
        </p:nvSpPr>
        <p:spPr>
          <a:xfrm>
            <a:off x="825500" y="2501900"/>
            <a:ext cx="22860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사람</a:t>
            </a:r>
            <a:endParaRPr/>
          </a:p>
        </p:txBody>
      </p:sp>
      <p:sp>
        <p:nvSpPr>
          <p:cNvPr id="210" name="Google Shape;210;p6"/>
          <p:cNvSpPr txBox="1"/>
          <p:nvPr/>
        </p:nvSpPr>
        <p:spPr>
          <a:xfrm>
            <a:off x="825500" y="2946400"/>
            <a:ext cx="2286000" cy="269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50">
                <a:solidFill>
                  <a:srgbClr val="626E69"/>
                </a:solidFill>
                <a:latin typeface="Noto Sans KR"/>
                <a:ea typeface="Noto Sans KR"/>
                <a:cs typeface="Noto Sans KR"/>
                <a:sym typeface="Noto Sans KR"/>
              </a:rPr>
              <a:t>디스코드에 파일 경로를 남긴다</a:t>
            </a:r>
            <a:endParaRPr/>
          </a:p>
        </p:txBody>
      </p:sp>
      <p:sp>
        <p:nvSpPr>
          <p:cNvPr id="211" name="Google Shape;211;p6"/>
          <p:cNvSpPr/>
          <p:nvPr/>
        </p:nvSpPr>
        <p:spPr>
          <a:xfrm>
            <a:off x="3378200" y="3263900"/>
            <a:ext cx="635000" cy="381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8F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 txBox="1"/>
          <p:nvPr/>
        </p:nvSpPr>
        <p:spPr>
          <a:xfrm>
            <a:off x="3378200" y="2971800"/>
            <a:ext cx="63500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626E69"/>
                </a:solidFill>
                <a:latin typeface="Noto Sans KR"/>
                <a:ea typeface="Noto Sans KR"/>
                <a:cs typeface="Noto Sans KR"/>
                <a:sym typeface="Noto Sans KR"/>
              </a:rPr>
              <a:t>경로</a:t>
            </a:r>
            <a:endParaRPr/>
          </a:p>
        </p:txBody>
      </p:sp>
      <p:sp>
        <p:nvSpPr>
          <p:cNvPr id="213" name="Google Shape;213;p6"/>
          <p:cNvSpPr/>
          <p:nvPr/>
        </p:nvSpPr>
        <p:spPr>
          <a:xfrm>
            <a:off x="4089400" y="2349500"/>
            <a:ext cx="3810000" cy="2222500"/>
          </a:xfrm>
          <a:prstGeom prst="roundRect">
            <a:avLst>
              <a:gd fmla="val 4000" name="adj"/>
            </a:avLst>
          </a:prstGeom>
          <a:solidFill>
            <a:srgbClr val="F3F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4216400" y="2349500"/>
            <a:ext cx="3556000" cy="38100"/>
          </a:xfrm>
          <a:prstGeom prst="rect">
            <a:avLst/>
          </a:prstGeom>
          <a:solidFill>
            <a:srgbClr val="0E8F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 txBox="1"/>
          <p:nvPr/>
        </p:nvSpPr>
        <p:spPr>
          <a:xfrm>
            <a:off x="4279900" y="2501900"/>
            <a:ext cx="34290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cleanflow</a:t>
            </a:r>
            <a:endParaRPr b="1" sz="1400">
              <a:solidFill>
                <a:srgbClr val="121A17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16" name="Google Shape;216;p6"/>
          <p:cNvSpPr txBox="1"/>
          <p:nvPr/>
        </p:nvSpPr>
        <p:spPr>
          <a:xfrm>
            <a:off x="4279900" y="2895600"/>
            <a:ext cx="342900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00">
                <a:solidFill>
                  <a:srgbClr val="0E8F6B"/>
                </a:solidFill>
                <a:latin typeface="Noto Sans KR"/>
                <a:ea typeface="Noto Sans KR"/>
                <a:cs typeface="Noto Sans KR"/>
                <a:sym typeface="Noto Sans KR"/>
              </a:rPr>
              <a:t>①</a:t>
            </a:r>
            <a:r>
              <a:rPr lang="ko-KR" sz="1100">
                <a:solidFill>
                  <a:srgbClr val="626E69"/>
                </a:solidFill>
                <a:latin typeface="Noto Sans KR"/>
                <a:ea typeface="Noto Sans KR"/>
                <a:cs typeface="Noto Sans KR"/>
                <a:sym typeface="Noto Sans KR"/>
              </a:rPr>
              <a:t> 정의   책임 한 문장</a:t>
            </a:r>
            <a:endParaRPr/>
          </a:p>
        </p:txBody>
      </p:sp>
      <p:sp>
        <p:nvSpPr>
          <p:cNvPr id="217" name="Google Shape;217;p6"/>
          <p:cNvSpPr txBox="1"/>
          <p:nvPr/>
        </p:nvSpPr>
        <p:spPr>
          <a:xfrm>
            <a:off x="4279900" y="3175000"/>
            <a:ext cx="342900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00">
                <a:solidFill>
                  <a:srgbClr val="0E8F6B"/>
                </a:solidFill>
                <a:latin typeface="Noto Sans KR"/>
                <a:ea typeface="Noto Sans KR"/>
                <a:cs typeface="Noto Sans KR"/>
                <a:sym typeface="Noto Sans KR"/>
              </a:rPr>
              <a:t>②</a:t>
            </a:r>
            <a:r>
              <a:rPr lang="ko-KR" sz="1100">
                <a:solidFill>
                  <a:srgbClr val="626E69"/>
                </a:solidFill>
                <a:latin typeface="Noto Sans KR"/>
                <a:ea typeface="Noto Sans KR"/>
                <a:cs typeface="Noto Sans KR"/>
                <a:sym typeface="Noto Sans KR"/>
              </a:rPr>
              <a:t> 기획   구역 나누기</a:t>
            </a:r>
            <a:endParaRPr/>
          </a:p>
        </p:txBody>
      </p:sp>
      <p:sp>
        <p:nvSpPr>
          <p:cNvPr id="218" name="Google Shape;218;p6"/>
          <p:cNvSpPr txBox="1"/>
          <p:nvPr/>
        </p:nvSpPr>
        <p:spPr>
          <a:xfrm>
            <a:off x="4279900" y="3454400"/>
            <a:ext cx="342900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00">
                <a:solidFill>
                  <a:srgbClr val="0E8F6B"/>
                </a:solidFill>
                <a:latin typeface="Noto Sans KR"/>
                <a:ea typeface="Noto Sans KR"/>
                <a:cs typeface="Noto Sans KR"/>
                <a:sym typeface="Noto Sans KR"/>
              </a:rPr>
              <a:t>③</a:t>
            </a:r>
            <a:r>
              <a:rPr lang="ko-KR" sz="1100">
                <a:solidFill>
                  <a:srgbClr val="626E69"/>
                </a:solidFill>
                <a:latin typeface="Noto Sans KR"/>
                <a:ea typeface="Noto Sans KR"/>
                <a:cs typeface="Noto Sans KR"/>
                <a:sym typeface="Noto Sans KR"/>
              </a:rPr>
              <a:t> 개발   재배치 + 주석</a:t>
            </a:r>
            <a:endParaRPr/>
          </a:p>
        </p:txBody>
      </p:sp>
      <p:sp>
        <p:nvSpPr>
          <p:cNvPr id="219" name="Google Shape;219;p6"/>
          <p:cNvSpPr txBox="1"/>
          <p:nvPr/>
        </p:nvSpPr>
        <p:spPr>
          <a:xfrm>
            <a:off x="4279900" y="3835400"/>
            <a:ext cx="3429000" cy="2385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50">
                <a:solidFill>
                  <a:srgbClr val="626E69"/>
                </a:solidFill>
                <a:latin typeface="Noto Sans KR"/>
                <a:ea typeface="Noto Sans KR"/>
                <a:cs typeface="Noto Sans KR"/>
                <a:sym typeface="Noto Sans KR"/>
              </a:rPr>
              <a:t>↓ 판정에서 멈출 수 있음</a:t>
            </a:r>
            <a:endParaRPr/>
          </a:p>
        </p:txBody>
      </p:sp>
      <p:sp>
        <p:nvSpPr>
          <p:cNvPr id="220" name="Google Shape;220;p6"/>
          <p:cNvSpPr/>
          <p:nvPr/>
        </p:nvSpPr>
        <p:spPr>
          <a:xfrm>
            <a:off x="7975600" y="3263900"/>
            <a:ext cx="635000" cy="381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8F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 txBox="1"/>
          <p:nvPr/>
        </p:nvSpPr>
        <p:spPr>
          <a:xfrm>
            <a:off x="7721600" y="2971800"/>
            <a:ext cx="114300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626E69"/>
                </a:solidFill>
                <a:latin typeface="Noto Sans KR"/>
                <a:ea typeface="Noto Sans KR"/>
                <a:cs typeface="Noto Sans KR"/>
                <a:sym typeface="Noto Sans KR"/>
              </a:rPr>
              <a:t>커밋 · PR</a:t>
            </a:r>
            <a:endParaRPr sz="1000">
              <a:solidFill>
                <a:srgbClr val="626E6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8686800" y="2349500"/>
            <a:ext cx="2857500" cy="2222500"/>
          </a:xfrm>
          <a:prstGeom prst="roundRect">
            <a:avLst>
              <a:gd fmla="val 4000" name="adj"/>
            </a:avLst>
          </a:prstGeom>
          <a:solidFill>
            <a:srgbClr val="F3F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8813800" y="2349500"/>
            <a:ext cx="2603500" cy="38100"/>
          </a:xfrm>
          <a:prstGeom prst="rect">
            <a:avLst/>
          </a:prstGeom>
          <a:solidFill>
            <a:srgbClr val="0E8F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6"/>
          <p:cNvSpPr txBox="1"/>
          <p:nvPr/>
        </p:nvSpPr>
        <p:spPr>
          <a:xfrm>
            <a:off x="8877300" y="2501900"/>
            <a:ext cx="24765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저장소</a:t>
            </a:r>
            <a:endParaRPr/>
          </a:p>
        </p:txBody>
      </p:sp>
      <p:sp>
        <p:nvSpPr>
          <p:cNvPr id="225" name="Google Shape;225;p6"/>
          <p:cNvSpPr txBox="1"/>
          <p:nvPr/>
        </p:nvSpPr>
        <p:spPr>
          <a:xfrm>
            <a:off x="8877300" y="2895600"/>
            <a:ext cx="2476500" cy="269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5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Zeteo</a:t>
            </a:r>
            <a:endParaRPr b="1" sz="1150">
              <a:solidFill>
                <a:srgbClr val="121A17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26" name="Google Shape;226;p6"/>
          <p:cNvSpPr txBox="1"/>
          <p:nvPr/>
        </p:nvSpPr>
        <p:spPr>
          <a:xfrm>
            <a:off x="8877300" y="3136900"/>
            <a:ext cx="2476500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>
                <a:solidFill>
                  <a:srgbClr val="626E69"/>
                </a:solidFill>
                <a:latin typeface="Noto Sans KR"/>
                <a:ea typeface="Noto Sans KR"/>
                <a:cs typeface="Noto Sans KR"/>
                <a:sym typeface="Noto Sans KR"/>
              </a:rPr>
              <a:t>chore/ 브랜치</a:t>
            </a:r>
            <a:endParaRPr/>
          </a:p>
        </p:txBody>
      </p:sp>
      <p:sp>
        <p:nvSpPr>
          <p:cNvPr id="227" name="Google Shape;227;p6"/>
          <p:cNvSpPr txBox="1"/>
          <p:nvPr/>
        </p:nvSpPr>
        <p:spPr>
          <a:xfrm>
            <a:off x="8877300" y="3517900"/>
            <a:ext cx="2476500" cy="269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5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PR #N</a:t>
            </a:r>
            <a:endParaRPr b="1" sz="1150">
              <a:solidFill>
                <a:srgbClr val="121A17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28" name="Google Shape;228;p6"/>
          <p:cNvSpPr txBox="1"/>
          <p:nvPr/>
        </p:nvSpPr>
        <p:spPr>
          <a:xfrm>
            <a:off x="8877300" y="3886200"/>
            <a:ext cx="2476500" cy="269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5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TeamB</a:t>
            </a:r>
            <a:endParaRPr b="1" sz="1150">
              <a:solidFill>
                <a:srgbClr val="121A17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29" name="Google Shape;229;p6"/>
          <p:cNvSpPr txBox="1"/>
          <p:nvPr/>
        </p:nvSpPr>
        <p:spPr>
          <a:xfrm>
            <a:off x="8877300" y="4127500"/>
            <a:ext cx="2476500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>
                <a:solidFill>
                  <a:srgbClr val="626E69"/>
                </a:solidFill>
                <a:latin typeface="Noto Sans KR"/>
                <a:ea typeface="Noto Sans KR"/>
                <a:cs typeface="Noto Sans KR"/>
                <a:sym typeface="Noto Sans KR"/>
              </a:rPr>
              <a:t>4주차/정리기록/</a:t>
            </a:r>
            <a:endParaRPr sz="1050">
              <a:solidFill>
                <a:srgbClr val="626E6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30" name="Google Shape;230;p6"/>
          <p:cNvSpPr txBox="1"/>
          <p:nvPr/>
        </p:nvSpPr>
        <p:spPr>
          <a:xfrm>
            <a:off x="635000" y="4622800"/>
            <a:ext cx="3454400" cy="2385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50">
                <a:solidFill>
                  <a:srgbClr val="626E69"/>
                </a:solidFill>
                <a:latin typeface="Noto Sans KR"/>
                <a:ea typeface="Noto Sans KR"/>
                <a:cs typeface="Noto Sans KR"/>
                <a:sym typeface="Noto Sans KR"/>
              </a:rPr>
              <a:t>통보 (-logs 채널)</a:t>
            </a:r>
            <a:endParaRPr sz="950">
              <a:solidFill>
                <a:srgbClr val="626E6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635000" y="4826000"/>
            <a:ext cx="3454400" cy="2032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0E8F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6"/>
          <p:cNvSpPr/>
          <p:nvPr/>
        </p:nvSpPr>
        <p:spPr>
          <a:xfrm>
            <a:off x="635000" y="5156200"/>
            <a:ext cx="10909300" cy="990600"/>
          </a:xfrm>
          <a:prstGeom prst="roundRect">
            <a:avLst>
              <a:gd fmla="val 4000" name="adj"/>
            </a:avLst>
          </a:prstGeom>
          <a:solidFill>
            <a:srgbClr val="F3F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6"/>
          <p:cNvSpPr/>
          <p:nvPr/>
        </p:nvSpPr>
        <p:spPr>
          <a:xfrm>
            <a:off x="635000" y="5233924"/>
            <a:ext cx="50800" cy="835152"/>
          </a:xfrm>
          <a:prstGeom prst="rect">
            <a:avLst/>
          </a:prstGeom>
          <a:solidFill>
            <a:srgbClr val="0E8F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 txBox="1"/>
          <p:nvPr/>
        </p:nvSpPr>
        <p:spPr>
          <a:xfrm>
            <a:off x="825500" y="5308600"/>
            <a:ext cx="101600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④ 활용은 사람이 한다</a:t>
            </a:r>
            <a:endParaRPr/>
          </a:p>
        </p:txBody>
      </p:sp>
      <p:sp>
        <p:nvSpPr>
          <p:cNvPr id="235" name="Google Shape;235;p6"/>
          <p:cNvSpPr txBox="1"/>
          <p:nvPr/>
        </p:nvSpPr>
        <p:spPr>
          <a:xfrm>
            <a:off x="825500" y="5638800"/>
            <a:ext cx="10160000" cy="269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50">
                <a:solidFill>
                  <a:srgbClr val="626E69"/>
                </a:solidFill>
                <a:latin typeface="Noto Sans KR"/>
                <a:ea typeface="Noto Sans KR"/>
                <a:cs typeface="Noto Sans KR"/>
                <a:sym typeface="Noto Sans KR"/>
              </a:rPr>
              <a:t>정리된 파일로 실제 작업 → 자리가 자명한지 확인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B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7"/>
          <p:cNvSpPr/>
          <p:nvPr/>
        </p:nvSpPr>
        <p:spPr>
          <a:xfrm>
            <a:off x="640080" y="429768"/>
            <a:ext cx="201168" cy="201168"/>
          </a:xfrm>
          <a:prstGeom prst="roundRect">
            <a:avLst>
              <a:gd fmla="val 50000" name="adj"/>
            </a:avLst>
          </a:prstGeom>
          <a:solidFill>
            <a:srgbClr val="0E8F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/>
          <p:cNvSpPr txBox="1"/>
          <p:nvPr/>
        </p:nvSpPr>
        <p:spPr>
          <a:xfrm>
            <a:off x="950976" y="441808"/>
            <a:ext cx="7315200" cy="1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200">
                <a:solidFill>
                  <a:srgbClr val="0A6B50"/>
                </a:solidFill>
                <a:latin typeface="Noto Sans KR"/>
                <a:ea typeface="Noto Sans KR"/>
                <a:cs typeface="Noto Sans KR"/>
                <a:sym typeface="Noto Sans KR"/>
              </a:rPr>
              <a:t>03 · 시스템 설계도(흐름 설명) — 처리 흐름</a:t>
            </a:r>
            <a:endParaRPr b="1" i="0" sz="1200">
              <a:solidFill>
                <a:srgbClr val="0A6B5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43" name="Google Shape;243;p7"/>
          <p:cNvSpPr txBox="1"/>
          <p:nvPr/>
        </p:nvSpPr>
        <p:spPr>
          <a:xfrm>
            <a:off x="640080" y="841248"/>
            <a:ext cx="10881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300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멈추는 지점이 셋</a:t>
            </a:r>
            <a:endParaRPr/>
          </a:p>
        </p:txBody>
      </p:sp>
      <p:sp>
        <p:nvSpPr>
          <p:cNvPr id="244" name="Google Shape;244;p7"/>
          <p:cNvSpPr/>
          <p:nvPr/>
        </p:nvSpPr>
        <p:spPr>
          <a:xfrm>
            <a:off x="640080" y="1920240"/>
            <a:ext cx="3511296" cy="2286000"/>
          </a:xfrm>
          <a:prstGeom prst="roundRect">
            <a:avLst>
              <a:gd fmla="val 6000" name="adj"/>
            </a:avLst>
          </a:prstGeom>
          <a:solidFill>
            <a:srgbClr val="FBEE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640080" y="1920240"/>
            <a:ext cx="54864" cy="2286000"/>
          </a:xfrm>
          <a:prstGeom prst="rect">
            <a:avLst/>
          </a:prstGeom>
          <a:solidFill>
            <a:srgbClr val="BE49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7"/>
          <p:cNvSpPr txBox="1"/>
          <p:nvPr/>
        </p:nvSpPr>
        <p:spPr>
          <a:xfrm>
            <a:off x="877824" y="2066544"/>
            <a:ext cx="30906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100">
                <a:solidFill>
                  <a:srgbClr val="BE493D"/>
                </a:solidFill>
                <a:latin typeface="Noto Sans KR"/>
                <a:ea typeface="Noto Sans KR"/>
                <a:cs typeface="Noto Sans KR"/>
                <a:sym typeface="Noto Sans KR"/>
              </a:rPr>
              <a:t>멈춤 ①</a:t>
            </a:r>
            <a:endParaRPr/>
          </a:p>
        </p:txBody>
      </p:sp>
      <p:sp>
        <p:nvSpPr>
          <p:cNvPr id="247" name="Google Shape;247;p7"/>
          <p:cNvSpPr txBox="1"/>
          <p:nvPr/>
        </p:nvSpPr>
        <p:spPr>
          <a:xfrm>
            <a:off x="877824" y="2395728"/>
            <a:ext cx="3090672" cy="209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50">
                <a:solidFill>
                  <a:srgbClr val="7C3329"/>
                </a:solidFill>
                <a:latin typeface="Noto Sans KR"/>
                <a:ea typeface="Noto Sans KR"/>
                <a:cs typeface="Noto Sans KR"/>
                <a:sym typeface="Noto Sans KR"/>
              </a:rPr>
              <a:t>미병합 변경 있으면 먼저 머지 요청</a:t>
            </a:r>
            <a:endParaRPr b="0" i="0" sz="1150">
              <a:solidFill>
                <a:srgbClr val="7C332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4334256" y="1920240"/>
            <a:ext cx="3511296" cy="2286000"/>
          </a:xfrm>
          <a:prstGeom prst="roundRect">
            <a:avLst>
              <a:gd fmla="val 6000" name="adj"/>
            </a:avLst>
          </a:prstGeom>
          <a:solidFill>
            <a:srgbClr val="FBEE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4334256" y="1920240"/>
            <a:ext cx="54864" cy="2286000"/>
          </a:xfrm>
          <a:prstGeom prst="rect">
            <a:avLst/>
          </a:prstGeom>
          <a:solidFill>
            <a:srgbClr val="BE49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7"/>
          <p:cNvSpPr txBox="1"/>
          <p:nvPr/>
        </p:nvSpPr>
        <p:spPr>
          <a:xfrm>
            <a:off x="4572000" y="2066544"/>
            <a:ext cx="30906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100">
                <a:solidFill>
                  <a:srgbClr val="BE493D"/>
                </a:solidFill>
                <a:latin typeface="Noto Sans KR"/>
                <a:ea typeface="Noto Sans KR"/>
                <a:cs typeface="Noto Sans KR"/>
                <a:sym typeface="Noto Sans KR"/>
              </a:rPr>
              <a:t>멈춤 ②</a:t>
            </a:r>
            <a:endParaRPr/>
          </a:p>
        </p:txBody>
      </p:sp>
      <p:sp>
        <p:nvSpPr>
          <p:cNvPr id="251" name="Google Shape;251;p7"/>
          <p:cNvSpPr txBox="1"/>
          <p:nvPr/>
        </p:nvSpPr>
        <p:spPr>
          <a:xfrm>
            <a:off x="4572000" y="2395728"/>
            <a:ext cx="3090672" cy="209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50">
                <a:solidFill>
                  <a:srgbClr val="7C3329"/>
                </a:solidFill>
                <a:latin typeface="Noto Sans KR"/>
                <a:ea typeface="Noto Sans KR"/>
                <a:cs typeface="Noto Sans KR"/>
                <a:sym typeface="Noto Sans KR"/>
              </a:rPr>
              <a:t>4문항 다 통과 = '이 파일은 됐습니다'</a:t>
            </a:r>
            <a:endParaRPr b="0" i="0" sz="1150">
              <a:solidFill>
                <a:srgbClr val="7C332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8028432" y="1920240"/>
            <a:ext cx="3511296" cy="2286000"/>
          </a:xfrm>
          <a:prstGeom prst="roundRect">
            <a:avLst>
              <a:gd fmla="val 6000" name="adj"/>
            </a:avLst>
          </a:prstGeom>
          <a:solidFill>
            <a:srgbClr val="FBEE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8028432" y="1920240"/>
            <a:ext cx="54864" cy="2286000"/>
          </a:xfrm>
          <a:prstGeom prst="rect">
            <a:avLst/>
          </a:prstGeom>
          <a:solidFill>
            <a:srgbClr val="BE49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7"/>
          <p:cNvSpPr txBox="1"/>
          <p:nvPr/>
        </p:nvSpPr>
        <p:spPr>
          <a:xfrm>
            <a:off x="8266176" y="2066544"/>
            <a:ext cx="30906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100">
                <a:solidFill>
                  <a:srgbClr val="BE493D"/>
                </a:solidFill>
                <a:latin typeface="Noto Sans KR"/>
                <a:ea typeface="Noto Sans KR"/>
                <a:cs typeface="Noto Sans KR"/>
                <a:sym typeface="Noto Sans KR"/>
              </a:rPr>
              <a:t>멈춤 ③</a:t>
            </a:r>
            <a:endParaRPr/>
          </a:p>
        </p:txBody>
      </p:sp>
      <p:sp>
        <p:nvSpPr>
          <p:cNvPr id="255" name="Google Shape;255;p7"/>
          <p:cNvSpPr txBox="1"/>
          <p:nvPr/>
        </p:nvSpPr>
        <p:spPr>
          <a:xfrm>
            <a:off x="8266176" y="2395728"/>
            <a:ext cx="3090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50">
                <a:solidFill>
                  <a:srgbClr val="7C3329"/>
                </a:solidFill>
                <a:latin typeface="Noto Sans KR"/>
                <a:ea typeface="Noto Sans KR"/>
                <a:cs typeface="Noto Sans KR"/>
                <a:sym typeface="Noto Sans KR"/>
              </a:rPr>
              <a:t>코드 변경시</a:t>
            </a:r>
            <a:r>
              <a:rPr b="0" i="0" lang="ko-KR" sz="1150">
                <a:solidFill>
                  <a:srgbClr val="7C3329"/>
                </a:solidFill>
                <a:latin typeface="Noto Sans KR"/>
                <a:ea typeface="Noto Sans KR"/>
                <a:cs typeface="Noto Sans KR"/>
                <a:sym typeface="Noto Sans KR"/>
              </a:rPr>
              <a:t> 커밋 자체를 안 함</a:t>
            </a:r>
            <a:endParaRPr b="0" i="0" sz="1150">
              <a:solidFill>
                <a:srgbClr val="7C332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640080" y="4389120"/>
            <a:ext cx="10908792" cy="1234440"/>
          </a:xfrm>
          <a:prstGeom prst="roundRect">
            <a:avLst>
              <a:gd fmla="val 6000" name="adj"/>
            </a:avLst>
          </a:prstGeom>
          <a:solidFill>
            <a:srgbClr val="FBF1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640080" y="4389120"/>
            <a:ext cx="54864" cy="1234440"/>
          </a:xfrm>
          <a:prstGeom prst="rect">
            <a:avLst/>
          </a:prstGeom>
          <a:solidFill>
            <a:srgbClr val="B87A1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7"/>
          <p:cNvSpPr txBox="1"/>
          <p:nvPr/>
        </p:nvSpPr>
        <p:spPr>
          <a:xfrm>
            <a:off x="877824" y="4535424"/>
            <a:ext cx="104881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100">
                <a:solidFill>
                  <a:srgbClr val="B87A1F"/>
                </a:solidFill>
                <a:latin typeface="Noto Sans KR"/>
                <a:ea typeface="Noto Sans KR"/>
                <a:cs typeface="Noto Sans KR"/>
                <a:sym typeface="Noto Sans KR"/>
              </a:rPr>
              <a:t>한 문장으로 안 써지면</a:t>
            </a:r>
            <a:endParaRPr/>
          </a:p>
        </p:txBody>
      </p:sp>
      <p:sp>
        <p:nvSpPr>
          <p:cNvPr id="259" name="Google Shape;259;p7"/>
          <p:cNvSpPr txBox="1"/>
          <p:nvPr/>
        </p:nvSpPr>
        <p:spPr>
          <a:xfrm>
            <a:off x="877824" y="4864608"/>
            <a:ext cx="10488168" cy="630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50">
                <a:solidFill>
                  <a:srgbClr val="78551B"/>
                </a:solidFill>
                <a:latin typeface="Noto Sans KR"/>
                <a:ea typeface="Noto Sans KR"/>
                <a:cs typeface="Noto Sans KR"/>
                <a:sym typeface="Noto Sans KR"/>
              </a:rPr>
              <a:t>책임이 둘이라는 뜻 — 막지는 않되 PR에 적어 남긴다</a:t>
            </a:r>
            <a:endParaRPr/>
          </a:p>
        </p:txBody>
      </p:sp>
      <p:sp>
        <p:nvSpPr>
          <p:cNvPr id="260" name="Google Shape;260;p7"/>
          <p:cNvSpPr txBox="1"/>
          <p:nvPr/>
        </p:nvSpPr>
        <p:spPr>
          <a:xfrm>
            <a:off x="640080" y="5779008"/>
            <a:ext cx="109087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ko-KR" sz="1300">
                <a:solidFill>
                  <a:srgbClr val="0A6B50"/>
                </a:solidFill>
                <a:latin typeface="Noto Sans KR"/>
                <a:ea typeface="Noto Sans KR"/>
                <a:cs typeface="Noto Sans KR"/>
                <a:sym typeface="Noto Sans KR"/>
              </a:rPr>
              <a:t>멈춤 ②가 이 시스템의 성격을 정한다.</a:t>
            </a:r>
            <a:endParaRPr/>
          </a:p>
        </p:txBody>
      </p:sp>
      <p:sp>
        <p:nvSpPr>
          <p:cNvPr id="261" name="Google Shape;261;p7"/>
          <p:cNvSpPr/>
          <p:nvPr/>
        </p:nvSpPr>
        <p:spPr>
          <a:xfrm>
            <a:off x="640080" y="6455664"/>
            <a:ext cx="10911535" cy="9525"/>
          </a:xfrm>
          <a:prstGeom prst="rect">
            <a:avLst/>
          </a:prstGeom>
          <a:solidFill>
            <a:srgbClr val="E4E9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7"/>
          <p:cNvSpPr txBox="1"/>
          <p:nvPr/>
        </p:nvSpPr>
        <p:spPr>
          <a:xfrm>
            <a:off x="640080" y="6547104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50">
                <a:solidFill>
                  <a:srgbClr val="9BA5A0"/>
                </a:solidFill>
                <a:latin typeface="Noto Sans KR"/>
                <a:ea typeface="Noto Sans KR"/>
                <a:cs typeface="Noto Sans KR"/>
                <a:sym typeface="Noto Sans KR"/>
              </a:rPr>
              <a:t>cleanflow</a:t>
            </a:r>
            <a:endParaRPr/>
          </a:p>
        </p:txBody>
      </p:sp>
      <p:sp>
        <p:nvSpPr>
          <p:cNvPr id="263" name="Google Shape;263;p7"/>
          <p:cNvSpPr txBox="1"/>
          <p:nvPr/>
        </p:nvSpPr>
        <p:spPr>
          <a:xfrm>
            <a:off x="9966960" y="6547104"/>
            <a:ext cx="15819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950">
                <a:solidFill>
                  <a:srgbClr val="0A6B50"/>
                </a:solidFill>
                <a:latin typeface="Noto Sans KR"/>
                <a:ea typeface="Noto Sans KR"/>
                <a:cs typeface="Noto Sans KR"/>
                <a:sym typeface="Noto Sans KR"/>
              </a:rPr>
              <a:t>TeamB · 4주차   10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B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8"/>
          <p:cNvSpPr/>
          <p:nvPr/>
        </p:nvSpPr>
        <p:spPr>
          <a:xfrm>
            <a:off x="640080" y="429768"/>
            <a:ext cx="201168" cy="201168"/>
          </a:xfrm>
          <a:prstGeom prst="roundRect">
            <a:avLst>
              <a:gd fmla="val 50000" name="adj"/>
            </a:avLst>
          </a:prstGeom>
          <a:solidFill>
            <a:srgbClr val="0E8F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8"/>
          <p:cNvSpPr txBox="1"/>
          <p:nvPr/>
        </p:nvSpPr>
        <p:spPr>
          <a:xfrm>
            <a:off x="950976" y="441808"/>
            <a:ext cx="7315200" cy="1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200">
                <a:solidFill>
                  <a:srgbClr val="0A6B50"/>
                </a:solidFill>
                <a:latin typeface="Noto Sans KR"/>
                <a:ea typeface="Noto Sans KR"/>
                <a:cs typeface="Noto Sans KR"/>
                <a:sym typeface="Noto Sans KR"/>
              </a:rPr>
              <a:t>03 · 시스템 설계도(흐름 설명) — 자동 검증</a:t>
            </a:r>
            <a:endParaRPr b="1" i="0" sz="1200">
              <a:solidFill>
                <a:srgbClr val="0A6B5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71" name="Google Shape;271;p8"/>
          <p:cNvSpPr txBox="1"/>
          <p:nvPr/>
        </p:nvSpPr>
        <p:spPr>
          <a:xfrm>
            <a:off x="640080" y="841248"/>
            <a:ext cx="10881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260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커밋을 둘로 쪼개, diff로 증명한다</a:t>
            </a:r>
            <a:endParaRPr/>
          </a:p>
        </p:txBody>
      </p:sp>
      <p:sp>
        <p:nvSpPr>
          <p:cNvPr id="272" name="Google Shape;272;p8"/>
          <p:cNvSpPr txBox="1"/>
          <p:nvPr/>
        </p:nvSpPr>
        <p:spPr>
          <a:xfrm>
            <a:off x="640080" y="1444752"/>
            <a:ext cx="10881360" cy="2510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350">
                <a:solidFill>
                  <a:srgbClr val="626E69"/>
                </a:solidFill>
                <a:latin typeface="Noto Sans KR"/>
                <a:ea typeface="Noto Sans KR"/>
                <a:cs typeface="Noto Sans KR"/>
                <a:sym typeface="Noto Sans KR"/>
              </a:rPr>
              <a:t>테스트가 없어 diff 자체를 증거로 쓴다</a:t>
            </a:r>
            <a:endParaRPr b="0" i="0" sz="1350">
              <a:solidFill>
                <a:srgbClr val="626E6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73" name="Google Shape;273;p8"/>
          <p:cNvSpPr txBox="1"/>
          <p:nvPr/>
        </p:nvSpPr>
        <p:spPr>
          <a:xfrm>
            <a:off x="768096" y="2468880"/>
            <a:ext cx="1562100" cy="6705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100">
                <a:solidFill>
                  <a:srgbClr val="0A6B50"/>
                </a:solidFill>
                <a:latin typeface="Noto Sans KR"/>
                <a:ea typeface="Noto Sans KR"/>
                <a:cs typeface="Noto Sans KR"/>
                <a:sym typeface="Noto Sans KR"/>
              </a:rPr>
              <a:t>커밋</a:t>
            </a:r>
            <a:endParaRPr/>
          </a:p>
        </p:txBody>
      </p:sp>
      <p:sp>
        <p:nvSpPr>
          <p:cNvPr id="274" name="Google Shape;274;p8"/>
          <p:cNvSpPr txBox="1"/>
          <p:nvPr/>
        </p:nvSpPr>
        <p:spPr>
          <a:xfrm>
            <a:off x="2586228" y="2468880"/>
            <a:ext cx="3380232" cy="6705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100">
                <a:solidFill>
                  <a:srgbClr val="0A6B50"/>
                </a:solidFill>
                <a:latin typeface="Noto Sans KR"/>
                <a:ea typeface="Noto Sans KR"/>
                <a:cs typeface="Noto Sans KR"/>
                <a:sym typeface="Noto Sans KR"/>
              </a:rPr>
              <a:t>내용</a:t>
            </a:r>
            <a:endParaRPr/>
          </a:p>
        </p:txBody>
      </p:sp>
      <p:sp>
        <p:nvSpPr>
          <p:cNvPr id="275" name="Google Shape;275;p8"/>
          <p:cNvSpPr txBox="1"/>
          <p:nvPr/>
        </p:nvSpPr>
        <p:spPr>
          <a:xfrm>
            <a:off x="6222492" y="2468880"/>
            <a:ext cx="2016633" cy="6705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100">
                <a:solidFill>
                  <a:srgbClr val="0A6B50"/>
                </a:solidFill>
                <a:latin typeface="Noto Sans KR"/>
                <a:ea typeface="Noto Sans KR"/>
                <a:cs typeface="Noto Sans KR"/>
                <a:sym typeface="Noto Sans KR"/>
              </a:rPr>
              <a:t>무엇을 보증하나</a:t>
            </a:r>
            <a:endParaRPr/>
          </a:p>
        </p:txBody>
      </p:sp>
      <p:sp>
        <p:nvSpPr>
          <p:cNvPr id="276" name="Google Shape;276;p8"/>
          <p:cNvSpPr txBox="1"/>
          <p:nvPr/>
        </p:nvSpPr>
        <p:spPr>
          <a:xfrm>
            <a:off x="8495157" y="2468880"/>
            <a:ext cx="2925699" cy="6705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100">
                <a:solidFill>
                  <a:srgbClr val="0A6B50"/>
                </a:solidFill>
                <a:latin typeface="Noto Sans KR"/>
                <a:ea typeface="Noto Sans KR"/>
                <a:cs typeface="Noto Sans KR"/>
                <a:sym typeface="Noto Sans KR"/>
              </a:rPr>
              <a:t>어떻게 검증</a:t>
            </a:r>
            <a:endParaRPr/>
          </a:p>
        </p:txBody>
      </p:sp>
      <p:sp>
        <p:nvSpPr>
          <p:cNvPr id="277" name="Google Shape;277;p8"/>
          <p:cNvSpPr/>
          <p:nvPr/>
        </p:nvSpPr>
        <p:spPr>
          <a:xfrm>
            <a:off x="640080" y="3145028"/>
            <a:ext cx="10908792" cy="15875"/>
          </a:xfrm>
          <a:prstGeom prst="rect">
            <a:avLst/>
          </a:prstGeom>
          <a:solidFill>
            <a:srgbClr val="0E8F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 txBox="1"/>
          <p:nvPr/>
        </p:nvSpPr>
        <p:spPr>
          <a:xfrm>
            <a:off x="768096" y="3285744"/>
            <a:ext cx="1562100" cy="505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커밋 1</a:t>
            </a:r>
            <a:endParaRPr/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이동만</a:t>
            </a:r>
            <a:endParaRPr/>
          </a:p>
        </p:txBody>
      </p:sp>
      <p:sp>
        <p:nvSpPr>
          <p:cNvPr id="279" name="Google Shape;279;p8"/>
          <p:cNvSpPr txBox="1"/>
          <p:nvPr/>
        </p:nvSpPr>
        <p:spPr>
          <a:xfrm>
            <a:off x="2586228" y="3440912"/>
            <a:ext cx="3380232" cy="1956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선언 재배치 + 구분선. 본문 변경 0</a:t>
            </a:r>
            <a:endParaRPr b="0" i="0" sz="1100">
              <a:solidFill>
                <a:srgbClr val="121A17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80" name="Google Shape;280;p8"/>
          <p:cNvSpPr txBox="1"/>
          <p:nvPr/>
        </p:nvSpPr>
        <p:spPr>
          <a:xfrm>
            <a:off x="6222492" y="3285744"/>
            <a:ext cx="2016633" cy="505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동작이 안 바뀜</a:t>
            </a:r>
            <a:endParaRPr/>
          </a:p>
        </p:txBody>
      </p:sp>
      <p:sp>
        <p:nvSpPr>
          <p:cNvPr id="281" name="Google Shape;281;p8"/>
          <p:cNvSpPr txBox="1"/>
          <p:nvPr/>
        </p:nvSpPr>
        <p:spPr>
          <a:xfrm>
            <a:off x="8495157" y="3440912"/>
            <a:ext cx="2925699" cy="1956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정렬 비교 — 순서만 바뀌면 일치</a:t>
            </a:r>
            <a:endParaRPr b="0" i="0" sz="1100">
              <a:solidFill>
                <a:srgbClr val="121A17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640080" y="3910203"/>
            <a:ext cx="10908792" cy="9525"/>
          </a:xfrm>
          <a:prstGeom prst="rect">
            <a:avLst/>
          </a:prstGeom>
          <a:solidFill>
            <a:srgbClr val="E4E9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8"/>
          <p:cNvSpPr txBox="1"/>
          <p:nvPr/>
        </p:nvSpPr>
        <p:spPr>
          <a:xfrm>
            <a:off x="768096" y="4047744"/>
            <a:ext cx="1562100" cy="505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커밋 2</a:t>
            </a:r>
            <a:endParaRPr/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주석만</a:t>
            </a:r>
            <a:endParaRPr/>
          </a:p>
        </p:txBody>
      </p:sp>
      <p:sp>
        <p:nvSpPr>
          <p:cNvPr id="284" name="Google Shape;284;p8"/>
          <p:cNvSpPr txBox="1"/>
          <p:nvPr/>
        </p:nvSpPr>
        <p:spPr>
          <a:xfrm>
            <a:off x="2586228" y="4202912"/>
            <a:ext cx="3380232" cy="1956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파일 머리 + 결정의 '왜'. 코드 변경 0</a:t>
            </a:r>
            <a:endParaRPr b="0" i="0" sz="1100">
              <a:solidFill>
                <a:srgbClr val="121A17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85" name="Google Shape;285;p8"/>
          <p:cNvSpPr txBox="1"/>
          <p:nvPr/>
        </p:nvSpPr>
        <p:spPr>
          <a:xfrm>
            <a:off x="6222492" y="4047744"/>
            <a:ext cx="2016633" cy="505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코드가 안 바뀜</a:t>
            </a:r>
            <a:endParaRPr/>
          </a:p>
        </p:txBody>
      </p:sp>
      <p:sp>
        <p:nvSpPr>
          <p:cNvPr id="286" name="Google Shape;286;p8"/>
          <p:cNvSpPr txBox="1"/>
          <p:nvPr/>
        </p:nvSpPr>
        <p:spPr>
          <a:xfrm>
            <a:off x="8495157" y="4047744"/>
            <a:ext cx="2925699" cy="505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diff의 +/- 줄이 전부 주석인지 확인</a:t>
            </a:r>
            <a:endParaRPr/>
          </a:p>
        </p:txBody>
      </p:sp>
      <p:sp>
        <p:nvSpPr>
          <p:cNvPr id="287" name="Google Shape;287;p8"/>
          <p:cNvSpPr/>
          <p:nvPr/>
        </p:nvSpPr>
        <p:spPr>
          <a:xfrm>
            <a:off x="640080" y="4672203"/>
            <a:ext cx="10908792" cy="9525"/>
          </a:xfrm>
          <a:prstGeom prst="rect">
            <a:avLst/>
          </a:prstGeom>
          <a:solidFill>
            <a:srgbClr val="E4E9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 txBox="1"/>
          <p:nvPr/>
        </p:nvSpPr>
        <p:spPr>
          <a:xfrm>
            <a:off x="640080" y="5029200"/>
            <a:ext cx="10908792" cy="2189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200">
                <a:solidFill>
                  <a:srgbClr val="626E69"/>
                </a:solidFill>
                <a:latin typeface="Noto Sans KR"/>
                <a:ea typeface="Noto Sans KR"/>
                <a:cs typeface="Noto Sans KR"/>
                <a:sym typeface="Noto Sans KR"/>
              </a:rPr>
              <a:t>두 커밋 모두 tsc 통과 확인 — 리뷰는 커밋1만 봐도 충분</a:t>
            </a:r>
            <a:endParaRPr b="0" i="0" sz="1200">
              <a:solidFill>
                <a:srgbClr val="626E6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89" name="Google Shape;289;p8"/>
          <p:cNvSpPr/>
          <p:nvPr/>
        </p:nvSpPr>
        <p:spPr>
          <a:xfrm>
            <a:off x="640080" y="6455664"/>
            <a:ext cx="10911535" cy="9525"/>
          </a:xfrm>
          <a:prstGeom prst="rect">
            <a:avLst/>
          </a:prstGeom>
          <a:solidFill>
            <a:srgbClr val="E4E9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 txBox="1"/>
          <p:nvPr/>
        </p:nvSpPr>
        <p:spPr>
          <a:xfrm>
            <a:off x="640080" y="6547104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50">
                <a:solidFill>
                  <a:srgbClr val="9BA5A0"/>
                </a:solidFill>
                <a:latin typeface="Noto Sans KR"/>
                <a:ea typeface="Noto Sans KR"/>
                <a:cs typeface="Noto Sans KR"/>
                <a:sym typeface="Noto Sans KR"/>
              </a:rPr>
              <a:t>cleanflow</a:t>
            </a:r>
            <a:endParaRPr/>
          </a:p>
        </p:txBody>
      </p:sp>
      <p:sp>
        <p:nvSpPr>
          <p:cNvPr id="291" name="Google Shape;291;p8"/>
          <p:cNvSpPr txBox="1"/>
          <p:nvPr/>
        </p:nvSpPr>
        <p:spPr>
          <a:xfrm>
            <a:off x="9966960" y="6547104"/>
            <a:ext cx="15819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950">
                <a:solidFill>
                  <a:srgbClr val="0A6B50"/>
                </a:solidFill>
                <a:latin typeface="Noto Sans KR"/>
                <a:ea typeface="Noto Sans KR"/>
                <a:cs typeface="Noto Sans KR"/>
                <a:sym typeface="Noto Sans KR"/>
              </a:rPr>
              <a:t>TeamB · 4주차   11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B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9"/>
          <p:cNvSpPr/>
          <p:nvPr/>
        </p:nvSpPr>
        <p:spPr>
          <a:xfrm>
            <a:off x="640080" y="429768"/>
            <a:ext cx="201168" cy="201168"/>
          </a:xfrm>
          <a:prstGeom prst="roundRect">
            <a:avLst>
              <a:gd fmla="val 50000" name="adj"/>
            </a:avLst>
          </a:prstGeom>
          <a:solidFill>
            <a:srgbClr val="0E8F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9"/>
          <p:cNvSpPr txBox="1"/>
          <p:nvPr/>
        </p:nvSpPr>
        <p:spPr>
          <a:xfrm>
            <a:off x="950976" y="441808"/>
            <a:ext cx="7315200" cy="1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200">
                <a:solidFill>
                  <a:srgbClr val="0A6B50"/>
                </a:solidFill>
                <a:latin typeface="Noto Sans KR"/>
                <a:ea typeface="Noto Sans KR"/>
                <a:cs typeface="Noto Sans KR"/>
                <a:sym typeface="Noto Sans KR"/>
              </a:rPr>
              <a:t>04 · 활용 방안 — 4-1. 이전 코드 예시 → 바뀐 코드</a:t>
            </a:r>
            <a:endParaRPr b="1" i="0" sz="1200">
              <a:solidFill>
                <a:srgbClr val="0A6B5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99" name="Google Shape;299;p9"/>
          <p:cNvSpPr txBox="1"/>
          <p:nvPr/>
        </p:nvSpPr>
        <p:spPr>
          <a:xfrm>
            <a:off x="640080" y="841248"/>
            <a:ext cx="10881360" cy="423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260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room.ts, 순서와 주석만 정리했다</a:t>
            </a:r>
            <a:endParaRPr b="1" i="0" sz="2600">
              <a:solidFill>
                <a:srgbClr val="121A17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00" name="Google Shape;300;p9"/>
          <p:cNvSpPr txBox="1"/>
          <p:nvPr/>
        </p:nvSpPr>
        <p:spPr>
          <a:xfrm>
            <a:off x="640080" y="1444752"/>
            <a:ext cx="10881360" cy="2510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350">
                <a:solidFill>
                  <a:srgbClr val="626E69"/>
                </a:solidFill>
                <a:latin typeface="Noto Sans KR"/>
                <a:ea typeface="Noto Sans KR"/>
                <a:cs typeface="Noto Sans KR"/>
                <a:sym typeface="Noto Sans KR"/>
              </a:rPr>
              <a:t>로직 0글자 변경 — 배치와 주석만 정리</a:t>
            </a:r>
            <a:endParaRPr b="0" i="0" sz="1350">
              <a:solidFill>
                <a:srgbClr val="626E6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01" name="Google Shape;301;p9"/>
          <p:cNvSpPr txBox="1"/>
          <p:nvPr/>
        </p:nvSpPr>
        <p:spPr>
          <a:xfrm>
            <a:off x="768096" y="2954005"/>
            <a:ext cx="1562100" cy="18543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100">
                <a:solidFill>
                  <a:srgbClr val="0A6B50"/>
                </a:solidFill>
                <a:latin typeface="Noto Sans KR"/>
                <a:ea typeface="Noto Sans KR"/>
                <a:cs typeface="Noto Sans KR"/>
                <a:sym typeface="Noto Sans KR"/>
              </a:rPr>
              <a:t>구분</a:t>
            </a:r>
            <a:endParaRPr b="1" i="0" sz="1100">
              <a:solidFill>
                <a:srgbClr val="0A6B5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02" name="Google Shape;302;p9"/>
          <p:cNvSpPr txBox="1"/>
          <p:nvPr/>
        </p:nvSpPr>
        <p:spPr>
          <a:xfrm>
            <a:off x="2586228" y="2953427"/>
            <a:ext cx="3380232" cy="18601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100">
                <a:solidFill>
                  <a:srgbClr val="0A6B50"/>
                </a:solidFill>
                <a:latin typeface="Noto Sans KR"/>
                <a:ea typeface="Noto Sans KR"/>
                <a:cs typeface="Noto Sans KR"/>
                <a:sym typeface="Noto Sans KR"/>
              </a:rPr>
              <a:t>Before</a:t>
            </a:r>
            <a:endParaRPr b="1" i="0" sz="1100">
              <a:solidFill>
                <a:srgbClr val="0A6B5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03" name="Google Shape;303;p9"/>
          <p:cNvSpPr txBox="1"/>
          <p:nvPr/>
        </p:nvSpPr>
        <p:spPr>
          <a:xfrm>
            <a:off x="6222492" y="2953427"/>
            <a:ext cx="2016633" cy="18601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100">
                <a:solidFill>
                  <a:srgbClr val="0A6B50"/>
                </a:solidFill>
                <a:latin typeface="Noto Sans KR"/>
                <a:ea typeface="Noto Sans KR"/>
                <a:cs typeface="Noto Sans KR"/>
                <a:sym typeface="Noto Sans KR"/>
              </a:rPr>
              <a:t>After</a:t>
            </a:r>
            <a:endParaRPr b="1" i="0" sz="1100">
              <a:solidFill>
                <a:srgbClr val="0A6B5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04" name="Google Shape;304;p9"/>
          <p:cNvSpPr txBox="1"/>
          <p:nvPr/>
        </p:nvSpPr>
        <p:spPr>
          <a:xfrm>
            <a:off x="8495157" y="2954005"/>
            <a:ext cx="2925699" cy="18543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100">
                <a:solidFill>
                  <a:srgbClr val="0A6B50"/>
                </a:solidFill>
                <a:latin typeface="Noto Sans KR"/>
                <a:ea typeface="Noto Sans KR"/>
                <a:cs typeface="Noto Sans KR"/>
                <a:sym typeface="Noto Sans KR"/>
              </a:rPr>
              <a:t>무엇이 바뀌었나</a:t>
            </a:r>
            <a:endParaRPr b="1" i="0" sz="1100">
              <a:solidFill>
                <a:srgbClr val="0A6B5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05" name="Google Shape;305;p9"/>
          <p:cNvSpPr/>
          <p:nvPr/>
        </p:nvSpPr>
        <p:spPr>
          <a:xfrm>
            <a:off x="640080" y="3145028"/>
            <a:ext cx="10908792" cy="15875"/>
          </a:xfrm>
          <a:prstGeom prst="rect">
            <a:avLst/>
          </a:prstGeom>
          <a:solidFill>
            <a:srgbClr val="0E8F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9"/>
          <p:cNvSpPr txBox="1"/>
          <p:nvPr/>
        </p:nvSpPr>
        <p:spPr>
          <a:xfrm>
            <a:off x="768096" y="3440912"/>
            <a:ext cx="1562100" cy="1956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함수 순서</a:t>
            </a:r>
            <a:endParaRPr b="0" i="0" sz="1100">
              <a:solidFill>
                <a:srgbClr val="121A17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07" name="Google Shape;307;p9"/>
          <p:cNvSpPr txBox="1"/>
          <p:nvPr/>
        </p:nvSpPr>
        <p:spPr>
          <a:xfrm>
            <a:off x="2586228" y="3332582"/>
            <a:ext cx="3380232" cy="4122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쓴 순서 그대로 — joinRoom → deleteRoom → createRoom 순으로 뒤섞임</a:t>
            </a:r>
            <a:endParaRPr b="0" i="0" sz="1100">
              <a:solidFill>
                <a:srgbClr val="121A17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08" name="Google Shape;308;p9"/>
          <p:cNvSpPr txBox="1"/>
          <p:nvPr/>
        </p:nvSpPr>
        <p:spPr>
          <a:xfrm>
            <a:off x="6222492" y="3440912"/>
            <a:ext cx="2016633" cy="1956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로비 흐름 순서</a:t>
            </a:r>
            <a:endParaRPr b="0" i="0" sz="1100">
              <a:solidFill>
                <a:srgbClr val="121A17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09" name="Google Shape;309;p9"/>
          <p:cNvSpPr txBox="1"/>
          <p:nvPr/>
        </p:nvSpPr>
        <p:spPr>
          <a:xfrm>
            <a:off x="8495157" y="3224251"/>
            <a:ext cx="2925699" cy="62895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createRoom → getRoom → … → removePlayerFromLobby로 재배치. 함수 본문은 그대로</a:t>
            </a:r>
            <a:endParaRPr b="0" i="0" sz="1100">
              <a:solidFill>
                <a:srgbClr val="121A17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10" name="Google Shape;310;p9"/>
          <p:cNvSpPr/>
          <p:nvPr/>
        </p:nvSpPr>
        <p:spPr>
          <a:xfrm>
            <a:off x="640080" y="3910203"/>
            <a:ext cx="10908792" cy="9525"/>
          </a:xfrm>
          <a:prstGeom prst="rect">
            <a:avLst/>
          </a:prstGeom>
          <a:solidFill>
            <a:srgbClr val="E4E9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9"/>
          <p:cNvSpPr txBox="1"/>
          <p:nvPr/>
        </p:nvSpPr>
        <p:spPr>
          <a:xfrm>
            <a:off x="768096" y="4202912"/>
            <a:ext cx="1562100" cy="1956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주석</a:t>
            </a:r>
            <a:endParaRPr b="0" i="0" sz="1100">
              <a:solidFill>
                <a:srgbClr val="121A17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12" name="Google Shape;312;p9"/>
          <p:cNvSpPr txBox="1"/>
          <p:nvPr/>
        </p:nvSpPr>
        <p:spPr>
          <a:xfrm>
            <a:off x="2586228" y="4202912"/>
            <a:ext cx="3380232" cy="1956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// 라벨 뽑기 · // 완료 플래그 — 뭘 하는지만 반복</a:t>
            </a:r>
            <a:endParaRPr b="0" i="0" sz="1100">
              <a:solidFill>
                <a:srgbClr val="121A17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13" name="Google Shape;313;p9"/>
          <p:cNvSpPr txBox="1"/>
          <p:nvPr/>
        </p:nvSpPr>
        <p:spPr>
          <a:xfrm>
            <a:off x="6222492" y="4202912"/>
            <a:ext cx="2016633" cy="1956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왜 이렇게 했는지가 드러남</a:t>
            </a:r>
            <a:endParaRPr b="0" i="0" sz="1100">
              <a:solidFill>
                <a:srgbClr val="121A17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14" name="Google Shape;314;p9"/>
          <p:cNvSpPr txBox="1"/>
          <p:nvPr/>
        </p:nvSpPr>
        <p:spPr>
          <a:xfrm>
            <a:off x="8495157" y="4202913"/>
            <a:ext cx="2925699" cy="1956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라벨 무작위 이유, finalized 가드 이유 명시</a:t>
            </a:r>
            <a:endParaRPr b="0" i="0" sz="1100">
              <a:solidFill>
                <a:srgbClr val="121A17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15" name="Google Shape;315;p9"/>
          <p:cNvSpPr/>
          <p:nvPr/>
        </p:nvSpPr>
        <p:spPr>
          <a:xfrm>
            <a:off x="640080" y="4672203"/>
            <a:ext cx="10908792" cy="9525"/>
          </a:xfrm>
          <a:prstGeom prst="rect">
            <a:avLst/>
          </a:prstGeom>
          <a:solidFill>
            <a:srgbClr val="E4E9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640080" y="5029200"/>
            <a:ext cx="10908792" cy="2189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200">
                <a:solidFill>
                  <a:srgbClr val="626E69"/>
                </a:solidFill>
                <a:latin typeface="Noto Sans KR"/>
                <a:ea typeface="Noto Sans KR"/>
                <a:cs typeface="Noto Sans KR"/>
                <a:sym typeface="Noto Sans KR"/>
              </a:rPr>
              <a:t>정렬 비교 시 코드 줄 완전 일치</a:t>
            </a:r>
            <a:endParaRPr b="0" i="0" sz="1200">
              <a:solidFill>
                <a:srgbClr val="626E6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17" name="Google Shape;317;p9"/>
          <p:cNvSpPr/>
          <p:nvPr/>
        </p:nvSpPr>
        <p:spPr>
          <a:xfrm>
            <a:off x="640080" y="6455664"/>
            <a:ext cx="10911535" cy="9525"/>
          </a:xfrm>
          <a:prstGeom prst="rect">
            <a:avLst/>
          </a:prstGeom>
          <a:solidFill>
            <a:srgbClr val="E4E9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9"/>
          <p:cNvSpPr txBox="1"/>
          <p:nvPr/>
        </p:nvSpPr>
        <p:spPr>
          <a:xfrm>
            <a:off x="640080" y="6547104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50">
                <a:solidFill>
                  <a:srgbClr val="9BA5A0"/>
                </a:solidFill>
                <a:latin typeface="Noto Sans KR"/>
                <a:ea typeface="Noto Sans KR"/>
                <a:cs typeface="Noto Sans KR"/>
                <a:sym typeface="Noto Sans KR"/>
              </a:rPr>
              <a:t>cleanflow</a:t>
            </a:r>
            <a:endParaRPr/>
          </a:p>
        </p:txBody>
      </p:sp>
      <p:sp>
        <p:nvSpPr>
          <p:cNvPr id="319" name="Google Shape;319;p9"/>
          <p:cNvSpPr txBox="1"/>
          <p:nvPr/>
        </p:nvSpPr>
        <p:spPr>
          <a:xfrm>
            <a:off x="9966960" y="6547104"/>
            <a:ext cx="1581912" cy="1546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950">
                <a:solidFill>
                  <a:srgbClr val="0A6B50"/>
                </a:solidFill>
                <a:latin typeface="Noto Sans KR"/>
                <a:ea typeface="Noto Sans KR"/>
                <a:cs typeface="Noto Sans KR"/>
                <a:sym typeface="Noto Sans KR"/>
              </a:rPr>
              <a:t>TeamB · 4주차   13</a:t>
            </a:r>
            <a:endParaRPr b="1" i="0" sz="950">
              <a:solidFill>
                <a:srgbClr val="0A6B5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0"/>
          <p:cNvSpPr/>
          <p:nvPr/>
        </p:nvSpPr>
        <p:spPr>
          <a:xfrm>
            <a:off x="635000" y="3390900"/>
            <a:ext cx="10909300" cy="2590800"/>
          </a:xfrm>
          <a:prstGeom prst="roundRect">
            <a:avLst>
              <a:gd fmla="val 3500" name="adj"/>
            </a:avLst>
          </a:prstGeom>
          <a:solidFill>
            <a:srgbClr val="F3F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0"/>
          <p:cNvSpPr/>
          <p:nvPr/>
        </p:nvSpPr>
        <p:spPr>
          <a:xfrm>
            <a:off x="635000" y="571500"/>
            <a:ext cx="10909300" cy="2590800"/>
          </a:xfrm>
          <a:prstGeom prst="roundRect">
            <a:avLst>
              <a:gd fmla="val 3500" name="adj"/>
            </a:avLst>
          </a:prstGeom>
          <a:solidFill>
            <a:srgbClr val="F3F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0"/>
          <p:cNvSpPr/>
          <p:nvPr/>
        </p:nvSpPr>
        <p:spPr>
          <a:xfrm>
            <a:off x="635000" y="6451600"/>
            <a:ext cx="10909300" cy="12700"/>
          </a:xfrm>
          <a:prstGeom prst="rect">
            <a:avLst/>
          </a:prstGeom>
          <a:gradFill>
            <a:gsLst>
              <a:gs pos="0">
                <a:srgbClr val="E4E9E6"/>
              </a:gs>
              <a:gs pos="100000">
                <a:srgbClr val="96C0FF"/>
              </a:gs>
            </a:gsLst>
            <a:lin ang="16200000" scaled="0"/>
          </a:gra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0"/>
          <p:cNvSpPr txBox="1"/>
          <p:nvPr/>
        </p:nvSpPr>
        <p:spPr>
          <a:xfrm>
            <a:off x="635000" y="6553200"/>
            <a:ext cx="5486400" cy="2385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50">
                <a:solidFill>
                  <a:srgbClr val="9BA5A0"/>
                </a:solidFill>
                <a:latin typeface="Noto Sans KR"/>
                <a:ea typeface="Noto Sans KR"/>
                <a:cs typeface="Noto Sans KR"/>
                <a:sym typeface="Noto Sans KR"/>
              </a:rPr>
              <a:t>cleanflow</a:t>
            </a:r>
            <a:endParaRPr sz="950">
              <a:solidFill>
                <a:srgbClr val="9BA5A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28" name="Google Shape;328;p10"/>
          <p:cNvSpPr txBox="1"/>
          <p:nvPr/>
        </p:nvSpPr>
        <p:spPr>
          <a:xfrm>
            <a:off x="9969500" y="6553200"/>
            <a:ext cx="1587500" cy="2385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50">
                <a:solidFill>
                  <a:srgbClr val="9BA5A0"/>
                </a:solidFill>
                <a:latin typeface="Noto Sans KR"/>
                <a:ea typeface="Noto Sans KR"/>
                <a:cs typeface="Noto Sans KR"/>
                <a:sym typeface="Noto Sans KR"/>
              </a:rPr>
              <a:t>TeamB · 4주차   14</a:t>
            </a:r>
            <a:endParaRPr sz="950">
              <a:solidFill>
                <a:srgbClr val="9BA5A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29" name="Google Shape;329;p10"/>
          <p:cNvSpPr txBox="1"/>
          <p:nvPr/>
        </p:nvSpPr>
        <p:spPr>
          <a:xfrm>
            <a:off x="825500" y="1003300"/>
            <a:ext cx="113364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626E69"/>
                </a:solidFill>
                <a:latin typeface="Consolas"/>
                <a:ea typeface="Consolas"/>
                <a:cs typeface="Consolas"/>
                <a:sym typeface="Consolas"/>
              </a:rPr>
              <a:t>132~134번째 줄</a:t>
            </a:r>
            <a:endParaRPr/>
          </a:p>
        </p:txBody>
      </p:sp>
      <p:sp>
        <p:nvSpPr>
          <p:cNvPr id="330" name="Google Shape;330;p10"/>
          <p:cNvSpPr txBox="1"/>
          <p:nvPr/>
        </p:nvSpPr>
        <p:spPr>
          <a:xfrm>
            <a:off x="825500" y="1231900"/>
            <a:ext cx="613180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121A17"/>
                </a:solidFill>
                <a:latin typeface="Consolas"/>
                <a:ea typeface="Consolas"/>
                <a:cs typeface="Consolas"/>
                <a:sym typeface="Consolas"/>
              </a:rPr>
              <a:t>export function markReady(room: RoomInternalState, playerId: string) {</a:t>
            </a:r>
            <a:endParaRPr sz="1200">
              <a:solidFill>
                <a:srgbClr val="121A1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1" name="Google Shape;331;p10"/>
          <p:cNvSpPr txBox="1"/>
          <p:nvPr/>
        </p:nvSpPr>
        <p:spPr>
          <a:xfrm>
            <a:off x="825500" y="1460500"/>
            <a:ext cx="27334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121A17"/>
                </a:solidFill>
                <a:latin typeface="Consolas"/>
                <a:ea typeface="Consolas"/>
                <a:cs typeface="Consolas"/>
                <a:sym typeface="Consolas"/>
              </a:rPr>
              <a:t>  room.readyIds.add(playerId);</a:t>
            </a:r>
            <a:endParaRPr sz="1200">
              <a:solidFill>
                <a:srgbClr val="121A1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2" name="Google Shape;332;p10"/>
          <p:cNvSpPr txBox="1"/>
          <p:nvPr/>
        </p:nvSpPr>
        <p:spPr>
          <a:xfrm>
            <a:off x="825500" y="1689100"/>
            <a:ext cx="26962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121A17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solidFill>
                <a:srgbClr val="121A1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3" name="Google Shape;333;p10"/>
          <p:cNvSpPr txBox="1"/>
          <p:nvPr/>
        </p:nvSpPr>
        <p:spPr>
          <a:xfrm>
            <a:off x="825500" y="2070100"/>
            <a:ext cx="113364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626E69"/>
                </a:solidFill>
                <a:latin typeface="Consolas"/>
                <a:ea typeface="Consolas"/>
                <a:cs typeface="Consolas"/>
                <a:sym typeface="Consolas"/>
              </a:rPr>
              <a:t>110~112번째 줄</a:t>
            </a:r>
            <a:endParaRPr/>
          </a:p>
        </p:txBody>
      </p:sp>
      <p:sp>
        <p:nvSpPr>
          <p:cNvPr id="334" name="Google Shape;334;p10"/>
          <p:cNvSpPr txBox="1"/>
          <p:nvPr/>
        </p:nvSpPr>
        <p:spPr>
          <a:xfrm>
            <a:off x="825500" y="2298700"/>
            <a:ext cx="630172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121A17"/>
                </a:solidFill>
                <a:latin typeface="Consolas"/>
                <a:ea typeface="Consolas"/>
                <a:cs typeface="Consolas"/>
                <a:sym typeface="Consolas"/>
              </a:rPr>
              <a:t>export function unmarkReady(room: RoomInternalState, playerId: string) {</a:t>
            </a:r>
            <a:endParaRPr sz="1200">
              <a:solidFill>
                <a:srgbClr val="121A1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5" name="Google Shape;335;p10"/>
          <p:cNvSpPr txBox="1"/>
          <p:nvPr/>
        </p:nvSpPr>
        <p:spPr>
          <a:xfrm>
            <a:off x="825500" y="2527300"/>
            <a:ext cx="298831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121A17"/>
                </a:solidFill>
                <a:latin typeface="Consolas"/>
                <a:ea typeface="Consolas"/>
                <a:cs typeface="Consolas"/>
                <a:sym typeface="Consolas"/>
              </a:rPr>
              <a:t>  room.readyIds.delete(playerId);</a:t>
            </a:r>
            <a:endParaRPr sz="1200">
              <a:solidFill>
                <a:srgbClr val="121A1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6" name="Google Shape;336;p10"/>
          <p:cNvSpPr txBox="1"/>
          <p:nvPr/>
        </p:nvSpPr>
        <p:spPr>
          <a:xfrm>
            <a:off x="825500" y="2755900"/>
            <a:ext cx="26962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121A17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solidFill>
                <a:srgbClr val="121A1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7" name="Google Shape;337;p10"/>
          <p:cNvSpPr txBox="1"/>
          <p:nvPr/>
        </p:nvSpPr>
        <p:spPr>
          <a:xfrm>
            <a:off x="825500" y="3822700"/>
            <a:ext cx="5974713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ko-KR" sz="1050">
                <a:solidFill>
                  <a:srgbClr val="0E8F6B"/>
                </a:solidFill>
                <a:latin typeface="Consolas"/>
                <a:ea typeface="Consolas"/>
                <a:cs typeface="Consolas"/>
                <a:sym typeface="Consolas"/>
              </a:rPr>
              <a:t>// add/delete로 나뉜 건 index.ts의 case 'ready'가 같은 액션을 토글로 쓰기 때문이다</a:t>
            </a:r>
            <a:endParaRPr/>
          </a:p>
        </p:txBody>
      </p:sp>
      <p:sp>
        <p:nvSpPr>
          <p:cNvPr id="338" name="Google Shape;338;p10"/>
          <p:cNvSpPr txBox="1"/>
          <p:nvPr/>
        </p:nvSpPr>
        <p:spPr>
          <a:xfrm>
            <a:off x="825500" y="4013200"/>
            <a:ext cx="3313728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ko-KR" sz="1050">
                <a:solidFill>
                  <a:srgbClr val="0E8F6B"/>
                </a:solidFill>
                <a:latin typeface="Consolas"/>
                <a:ea typeface="Consolas"/>
                <a:cs typeface="Consolas"/>
                <a:sym typeface="Consolas"/>
              </a:rPr>
              <a:t>// (재클릭하면 준비 해제, index.ts:508-512).</a:t>
            </a:r>
            <a:endParaRPr i="1" sz="1050">
              <a:solidFill>
                <a:srgbClr val="0E8F6B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9" name="Google Shape;339;p10"/>
          <p:cNvSpPr txBox="1"/>
          <p:nvPr/>
        </p:nvSpPr>
        <p:spPr>
          <a:xfrm>
            <a:off x="825500" y="4305300"/>
            <a:ext cx="613180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121A17"/>
                </a:solidFill>
                <a:latin typeface="Consolas"/>
                <a:ea typeface="Consolas"/>
                <a:cs typeface="Consolas"/>
                <a:sym typeface="Consolas"/>
              </a:rPr>
              <a:t>export function markReady(room: RoomInternalState, playerId: string) {</a:t>
            </a:r>
            <a:endParaRPr sz="1200">
              <a:solidFill>
                <a:srgbClr val="121A1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0" name="Google Shape;340;p10"/>
          <p:cNvSpPr txBox="1"/>
          <p:nvPr/>
        </p:nvSpPr>
        <p:spPr>
          <a:xfrm>
            <a:off x="825500" y="4533900"/>
            <a:ext cx="27334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121A17"/>
                </a:solidFill>
                <a:latin typeface="Consolas"/>
                <a:ea typeface="Consolas"/>
                <a:cs typeface="Consolas"/>
                <a:sym typeface="Consolas"/>
              </a:rPr>
              <a:t>  room.readyIds.add(playerId);</a:t>
            </a:r>
            <a:endParaRPr sz="1200">
              <a:solidFill>
                <a:srgbClr val="121A1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1" name="Google Shape;341;p10"/>
          <p:cNvSpPr txBox="1"/>
          <p:nvPr/>
        </p:nvSpPr>
        <p:spPr>
          <a:xfrm>
            <a:off x="825500" y="4762500"/>
            <a:ext cx="26962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121A17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solidFill>
                <a:srgbClr val="121A1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2" name="Google Shape;342;p10"/>
          <p:cNvSpPr txBox="1"/>
          <p:nvPr/>
        </p:nvSpPr>
        <p:spPr>
          <a:xfrm>
            <a:off x="825500" y="5118100"/>
            <a:ext cx="630172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121A17"/>
                </a:solidFill>
                <a:latin typeface="Consolas"/>
                <a:ea typeface="Consolas"/>
                <a:cs typeface="Consolas"/>
                <a:sym typeface="Consolas"/>
              </a:rPr>
              <a:t>export function unmarkReady(room: RoomInternalState, playerId: string) {</a:t>
            </a:r>
            <a:endParaRPr sz="1200">
              <a:solidFill>
                <a:srgbClr val="121A1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3" name="Google Shape;343;p10"/>
          <p:cNvSpPr txBox="1"/>
          <p:nvPr/>
        </p:nvSpPr>
        <p:spPr>
          <a:xfrm>
            <a:off x="825500" y="5346700"/>
            <a:ext cx="298831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121A17"/>
                </a:solidFill>
                <a:latin typeface="Consolas"/>
                <a:ea typeface="Consolas"/>
                <a:cs typeface="Consolas"/>
                <a:sym typeface="Consolas"/>
              </a:rPr>
              <a:t>  room.readyIds.delete(playerId);</a:t>
            </a:r>
            <a:endParaRPr sz="1200">
              <a:solidFill>
                <a:srgbClr val="121A1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4" name="Google Shape;344;p10"/>
          <p:cNvSpPr txBox="1"/>
          <p:nvPr/>
        </p:nvSpPr>
        <p:spPr>
          <a:xfrm>
            <a:off x="825500" y="5575300"/>
            <a:ext cx="26962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121A17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solidFill>
                <a:srgbClr val="121A1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5" name="Google Shape;345;p10"/>
          <p:cNvSpPr/>
          <p:nvPr/>
        </p:nvSpPr>
        <p:spPr>
          <a:xfrm>
            <a:off x="763778" y="571500"/>
            <a:ext cx="10651744" cy="38100"/>
          </a:xfrm>
          <a:prstGeom prst="rect">
            <a:avLst/>
          </a:prstGeom>
          <a:solidFill>
            <a:srgbClr val="0E8F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0"/>
          <p:cNvSpPr/>
          <p:nvPr/>
        </p:nvSpPr>
        <p:spPr>
          <a:xfrm>
            <a:off x="763778" y="3390900"/>
            <a:ext cx="10651744" cy="38100"/>
          </a:xfrm>
          <a:prstGeom prst="rect">
            <a:avLst/>
          </a:prstGeom>
          <a:solidFill>
            <a:srgbClr val="0E8F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0"/>
          <p:cNvSpPr txBox="1"/>
          <p:nvPr/>
        </p:nvSpPr>
        <p:spPr>
          <a:xfrm>
            <a:off x="825500" y="698500"/>
            <a:ext cx="1194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Befo</a:t>
            </a:r>
            <a:r>
              <a:rPr b="1" lang="ko-KR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r</a:t>
            </a:r>
            <a:r>
              <a:rPr b="1" lang="ko-KR" sz="140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e</a:t>
            </a:r>
            <a:endParaRPr b="1" sz="1400">
              <a:solidFill>
                <a:srgbClr val="121A17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48" name="Google Shape;348;p10"/>
          <p:cNvSpPr txBox="1"/>
          <p:nvPr/>
        </p:nvSpPr>
        <p:spPr>
          <a:xfrm>
            <a:off x="825500" y="3517900"/>
            <a:ext cx="85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After</a:t>
            </a:r>
            <a:endParaRPr b="1" sz="1400">
              <a:solidFill>
                <a:srgbClr val="121A17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B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2"/>
          <p:cNvSpPr/>
          <p:nvPr/>
        </p:nvSpPr>
        <p:spPr>
          <a:xfrm>
            <a:off x="640080" y="429768"/>
            <a:ext cx="201168" cy="201168"/>
          </a:xfrm>
          <a:prstGeom prst="roundRect">
            <a:avLst>
              <a:gd fmla="val 50000" name="adj"/>
            </a:avLst>
          </a:prstGeom>
          <a:solidFill>
            <a:srgbClr val="0E8F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2"/>
          <p:cNvSpPr txBox="1"/>
          <p:nvPr/>
        </p:nvSpPr>
        <p:spPr>
          <a:xfrm>
            <a:off x="950976" y="441808"/>
            <a:ext cx="7315200" cy="1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200">
                <a:solidFill>
                  <a:srgbClr val="0A6B50"/>
                </a:solidFill>
                <a:latin typeface="Noto Sans KR"/>
                <a:ea typeface="Noto Sans KR"/>
                <a:cs typeface="Noto Sans KR"/>
                <a:sym typeface="Noto Sans KR"/>
              </a:rPr>
              <a:t>05 · 알게 된 점</a:t>
            </a:r>
            <a:endParaRPr b="1" i="0" sz="1200">
              <a:solidFill>
                <a:srgbClr val="0A6B5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56" name="Google Shape;356;p12"/>
          <p:cNvSpPr txBox="1"/>
          <p:nvPr/>
        </p:nvSpPr>
        <p:spPr>
          <a:xfrm>
            <a:off x="640080" y="841248"/>
            <a:ext cx="10881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300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알게 된 점</a:t>
            </a:r>
            <a:endParaRPr/>
          </a:p>
        </p:txBody>
      </p:sp>
      <p:sp>
        <p:nvSpPr>
          <p:cNvPr id="357" name="Google Shape;357;p12"/>
          <p:cNvSpPr/>
          <p:nvPr/>
        </p:nvSpPr>
        <p:spPr>
          <a:xfrm>
            <a:off x="640080" y="2148840"/>
            <a:ext cx="5349240" cy="1828800"/>
          </a:xfrm>
          <a:prstGeom prst="roundRect">
            <a:avLst>
              <a:gd fmla="val 6000" name="adj"/>
            </a:avLst>
          </a:prstGeom>
          <a:solidFill>
            <a:srgbClr val="F3F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2"/>
          <p:cNvSpPr/>
          <p:nvPr/>
        </p:nvSpPr>
        <p:spPr>
          <a:xfrm>
            <a:off x="640080" y="2148840"/>
            <a:ext cx="5349240" cy="41148"/>
          </a:xfrm>
          <a:prstGeom prst="rect">
            <a:avLst/>
          </a:prstGeom>
          <a:solidFill>
            <a:srgbClr val="0E8F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2"/>
          <p:cNvSpPr txBox="1"/>
          <p:nvPr/>
        </p:nvSpPr>
        <p:spPr>
          <a:xfrm>
            <a:off x="822960" y="2331720"/>
            <a:ext cx="4983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35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클로드가 짜준 코드, 기능은 맞아도 배치는 신경 안 쓴다</a:t>
            </a:r>
            <a:endParaRPr b="1" i="0" sz="1350">
              <a:solidFill>
                <a:srgbClr val="121A17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60" name="Google Shape;360;p12"/>
          <p:cNvSpPr/>
          <p:nvPr/>
        </p:nvSpPr>
        <p:spPr>
          <a:xfrm>
            <a:off x="6172200" y="2148840"/>
            <a:ext cx="5349300" cy="1828800"/>
          </a:xfrm>
          <a:prstGeom prst="roundRect">
            <a:avLst>
              <a:gd fmla="val 6000" name="adj"/>
            </a:avLst>
          </a:prstGeom>
          <a:solidFill>
            <a:srgbClr val="F3F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2"/>
          <p:cNvSpPr/>
          <p:nvPr/>
        </p:nvSpPr>
        <p:spPr>
          <a:xfrm>
            <a:off x="6172200" y="2148840"/>
            <a:ext cx="5349300" cy="41100"/>
          </a:xfrm>
          <a:prstGeom prst="rect">
            <a:avLst/>
          </a:prstGeom>
          <a:solidFill>
            <a:srgbClr val="0E8F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2"/>
          <p:cNvSpPr txBox="1"/>
          <p:nvPr/>
        </p:nvSpPr>
        <p:spPr>
          <a:xfrm>
            <a:off x="6355080" y="2331720"/>
            <a:ext cx="4983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35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지금 코드에 안 지운 주석이 그대로 남아있다</a:t>
            </a:r>
            <a:endParaRPr b="1" i="0" sz="1350">
              <a:solidFill>
                <a:srgbClr val="121A17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63" name="Google Shape;363;p12"/>
          <p:cNvSpPr/>
          <p:nvPr/>
        </p:nvSpPr>
        <p:spPr>
          <a:xfrm>
            <a:off x="640080" y="4142232"/>
            <a:ext cx="5349240" cy="1828800"/>
          </a:xfrm>
          <a:prstGeom prst="roundRect">
            <a:avLst>
              <a:gd fmla="val 6000" name="adj"/>
            </a:avLst>
          </a:prstGeom>
          <a:solidFill>
            <a:srgbClr val="F3F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2"/>
          <p:cNvSpPr/>
          <p:nvPr/>
        </p:nvSpPr>
        <p:spPr>
          <a:xfrm>
            <a:off x="640080" y="4142232"/>
            <a:ext cx="5349240" cy="41148"/>
          </a:xfrm>
          <a:prstGeom prst="rect">
            <a:avLst/>
          </a:prstGeom>
          <a:solidFill>
            <a:srgbClr val="0E8F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2"/>
          <p:cNvSpPr txBox="1"/>
          <p:nvPr/>
        </p:nvSpPr>
        <p:spPr>
          <a:xfrm>
            <a:off x="822960" y="4325112"/>
            <a:ext cx="4983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35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파일 안에서 각 구역에서 사용되는 함수가 어떤건지 알았다.</a:t>
            </a:r>
            <a:endParaRPr b="1" i="0" sz="1350">
              <a:solidFill>
                <a:srgbClr val="121A17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66" name="Google Shape;366;p12"/>
          <p:cNvSpPr/>
          <p:nvPr/>
        </p:nvSpPr>
        <p:spPr>
          <a:xfrm>
            <a:off x="6172200" y="4142232"/>
            <a:ext cx="5349240" cy="1828800"/>
          </a:xfrm>
          <a:prstGeom prst="roundRect">
            <a:avLst>
              <a:gd fmla="val 6000" name="adj"/>
            </a:avLst>
          </a:prstGeom>
          <a:solidFill>
            <a:srgbClr val="F3F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2"/>
          <p:cNvSpPr/>
          <p:nvPr/>
        </p:nvSpPr>
        <p:spPr>
          <a:xfrm>
            <a:off x="6172200" y="4142232"/>
            <a:ext cx="5349240" cy="41148"/>
          </a:xfrm>
          <a:prstGeom prst="rect">
            <a:avLst/>
          </a:prstGeom>
          <a:solidFill>
            <a:srgbClr val="0E8F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2"/>
          <p:cNvSpPr txBox="1"/>
          <p:nvPr/>
        </p:nvSpPr>
        <p:spPr>
          <a:xfrm>
            <a:off x="6355080" y="4325112"/>
            <a:ext cx="4983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350">
                <a:solidFill>
                  <a:srgbClr val="121A17"/>
                </a:solidFill>
                <a:latin typeface="Noto Sans KR"/>
                <a:ea typeface="Noto Sans KR"/>
                <a:cs typeface="Noto Sans KR"/>
                <a:sym typeface="Noto Sans KR"/>
              </a:rPr>
              <a:t>정리하다가 room.ts에서 진짜 버그도 하나 잡았다</a:t>
            </a:r>
            <a:endParaRPr b="1" i="0" sz="1350">
              <a:solidFill>
                <a:srgbClr val="121A17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69" name="Google Shape;369;p12"/>
          <p:cNvSpPr txBox="1"/>
          <p:nvPr/>
        </p:nvSpPr>
        <p:spPr>
          <a:xfrm>
            <a:off x="6355080" y="4672583"/>
            <a:ext cx="4983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626E69"/>
                </a:solidFill>
                <a:latin typeface="Noto Sans KR"/>
                <a:ea typeface="Noto Sans KR"/>
                <a:cs typeface="Noto Sans KR"/>
                <a:sym typeface="Noto Sans KR"/>
              </a:rPr>
              <a:t>웹훅 중복 발송 — finalized 가드로 막음</a:t>
            </a:r>
            <a:endParaRPr b="0" i="0" sz="1200">
              <a:solidFill>
                <a:srgbClr val="626E6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70" name="Google Shape;370;p12"/>
          <p:cNvSpPr/>
          <p:nvPr/>
        </p:nvSpPr>
        <p:spPr>
          <a:xfrm>
            <a:off x="640080" y="6455664"/>
            <a:ext cx="10911535" cy="9525"/>
          </a:xfrm>
          <a:prstGeom prst="rect">
            <a:avLst/>
          </a:prstGeom>
          <a:solidFill>
            <a:srgbClr val="E4E9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2"/>
          <p:cNvSpPr txBox="1"/>
          <p:nvPr/>
        </p:nvSpPr>
        <p:spPr>
          <a:xfrm>
            <a:off x="640080" y="6547104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50">
                <a:solidFill>
                  <a:srgbClr val="9BA5A0"/>
                </a:solidFill>
                <a:latin typeface="Noto Sans KR"/>
                <a:ea typeface="Noto Sans KR"/>
                <a:cs typeface="Noto Sans KR"/>
                <a:sym typeface="Noto Sans KR"/>
              </a:rPr>
              <a:t>cleanflow</a:t>
            </a:r>
            <a:endParaRPr/>
          </a:p>
        </p:txBody>
      </p:sp>
      <p:sp>
        <p:nvSpPr>
          <p:cNvPr id="372" name="Google Shape;372;p12"/>
          <p:cNvSpPr txBox="1"/>
          <p:nvPr/>
        </p:nvSpPr>
        <p:spPr>
          <a:xfrm>
            <a:off x="9966960" y="6547104"/>
            <a:ext cx="1581912" cy="1546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950">
                <a:solidFill>
                  <a:srgbClr val="0A6B50"/>
                </a:solidFill>
                <a:latin typeface="Noto Sans KR"/>
                <a:ea typeface="Noto Sans KR"/>
                <a:cs typeface="Noto Sans KR"/>
                <a:sym typeface="Noto Sans KR"/>
              </a:rPr>
              <a:t>TeamB · 4주차   16</a:t>
            </a:r>
            <a:endParaRPr b="1" i="0" sz="950">
              <a:solidFill>
                <a:srgbClr val="0A6B5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B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3"/>
          <p:cNvSpPr txBox="1"/>
          <p:nvPr/>
        </p:nvSpPr>
        <p:spPr>
          <a:xfrm flipH="1">
            <a:off x="4755215" y="2767280"/>
            <a:ext cx="3682813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8000">
                <a:solidFill>
                  <a:srgbClr val="0A6B50"/>
                </a:solidFill>
                <a:latin typeface="Noto Sans KR"/>
                <a:ea typeface="Noto Sans KR"/>
                <a:cs typeface="Noto Sans KR"/>
                <a:sym typeface="Noto Sans KR"/>
              </a:rPr>
              <a:t>Q&amp;A</a:t>
            </a:r>
            <a:endParaRPr sz="8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